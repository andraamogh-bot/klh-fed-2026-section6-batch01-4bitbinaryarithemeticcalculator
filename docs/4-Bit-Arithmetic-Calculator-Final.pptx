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b1f44907-c5ce-5758-779c-659cff3107c9}">
          <p14:sldIdLst>
            <p14:sldId id="256"/>
          </p14:sldIdLst>
        </p14:section>
        <p14:section name="Introduction" id="{d8323dd2-0c29-0495-2062-c63addb624db}">
          <p14:sldIdLst>
            <p14:sldId id="257"/>
          </p14:sldIdLst>
        </p14:section>
        <p14:section name="Theory" id="{c495a5f5-a7f8-0710-574f-55b57554ceb8}">
          <p14:sldIdLst>
            <p14:sldId id="258"/>
          </p14:sldIdLst>
        </p14:section>
        <p14:section name="Design" id="{19b1bde9-fe97-a2b4-463b-5ede6563c02a}">
          <p14:sldIdLst>
            <p14:sldId id="259"/>
          </p14:sldIdLst>
        </p14:section>
        <p14:section name="Results" id="{b4a054a1-ee91-c705-5d92-209544557851}">
          <p14:sldIdLst>
            <p14:sldId id="260"/>
          </p14:sldIdLst>
        </p14:section>
        <p14:section name="Conclusion" id="{fc8651c4-090d-92a8-c105-0d3437320541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project, team members and guide. Fill in the section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 introduction and the three objectives.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two's complement, then the full adder gate by gate, then how four of them form the 4-bit datapath.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numbered markers on the screenshot, left to right, matching the six steps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1 is the real Logisim screenshot. Flag = carry for addition, borrow for subtraction. R =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results, give applications, then mention future improvements. Thank the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Shape 1"/>
          <p:cNvSpPr/>
          <p:nvPr/>
        </p:nvSpPr>
        <p:spPr>
          <a:xfrm>
            <a:off x="10195560" y="274320"/>
            <a:ext cx="1508760" cy="713232"/>
          </a:xfrm>
          <a:prstGeom prst="rect">
            <a:avLst>
              <a:gd name="adj" fmla="val 10256"/>
            </a:avLst>
          </a:prstGeom>
          <a:solidFill>
            <a:srgbClr val="FFFFFF"/>
          </a:solidFill>
          <a:ln/>
        </p:spPr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310896"/>
            <a:ext cx="1325880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9C9"/>
                </a:solidFill>
              </a:rPr>
              <a:t>4-Bit Arithmetic Calculator  |  KL University  |  Batch 1</a:t>
            </a:r>
            <a:endParaRPr lang="en-US" sz="10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548640" y="274320"/>
            <a:ext cx="9509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9C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9C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erlay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A33">
              <a:alpha val="70000"/>
            </a:srgbClr>
          </a:solidFill>
          <a:ln/>
        </p:spPr>
      </p:sp>
      <p:sp>
        <p:nvSpPr>
          <p:cNvPr id="3" name="Accent bar"/>
          <p:cNvSpPr/>
          <p:nvPr/>
        </p:nvSpPr>
        <p:spPr>
          <a:xfrm>
            <a:off x="640080" y="1417320"/>
            <a:ext cx="822960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DIGITAL LOGIC DESIGN  ·  FINAL PROJECT DEMONSTRATION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4-Bit Binary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Arithmetic Calculator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6118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BFA"/>
                </a:solidFill>
              </a:rPr>
              <a:t>Add and subtract with a single shared adder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0233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FDC"/>
                </a:solidFill>
              </a:rPr>
              <a:t>Design and Simulation in Logisim</a:t>
            </a:r>
            <a:endParaRPr lang="en-US" sz="1600" dirty="0"/>
          </a:p>
        </p:txBody>
      </p:sp>
      <p:sp>
        <p:nvSpPr>
          <p:cNvPr id="8" name="Logo plate"/>
          <p:cNvSpPr/>
          <p:nvPr/>
        </p:nvSpPr>
        <p:spPr>
          <a:xfrm>
            <a:off x="640080" y="512064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pic>
        <p:nvPicPr>
          <p:cNvPr id="9" name="Image 0" descr="KL University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175504"/>
            <a:ext cx="1554480" cy="66751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606040" y="513892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KL University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A9BFDC"/>
                </a:solidFill>
              </a:rPr>
              <a:t>Academic Year 2026–2027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A9BFDC"/>
                </a:solidFill>
              </a:rPr>
              <a:t>Guide: Kartheek V</a:t>
            </a:r>
            <a:endParaRPr lang="en-US" sz="1200" dirty="0"/>
          </a:p>
        </p:txBody>
      </p:sp>
      <p:sp>
        <p:nvSpPr>
          <p:cNvPr id="11" name="Team card"/>
          <p:cNvSpPr/>
          <p:nvPr/>
        </p:nvSpPr>
        <p:spPr>
          <a:xfrm>
            <a:off x="7223760" y="914400"/>
            <a:ext cx="4343400" cy="4983480"/>
          </a:xfrm>
          <a:prstGeom prst="roundRect">
            <a:avLst>
              <a:gd name="adj" fmla="val 2105"/>
            </a:avLst>
          </a:prstGeom>
          <a:solidFill>
            <a:srgbClr val="0B2545"/>
          </a:solidFill>
          <a:ln w="12700">
            <a:solidFill>
              <a:srgbClr val="2B5C9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438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</a:rPr>
              <a:t>PROJECT TEAM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543800" y="1508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Batch 1   ·   Section: ______</a:t>
            </a:r>
            <a:endParaRPr lang="en-US" sz="1500" dirty="0"/>
          </a:p>
        </p:txBody>
      </p:sp>
      <p:sp>
        <p:nvSpPr>
          <p:cNvPr id="14" name="Member 1"/>
          <p:cNvSpPr/>
          <p:nvPr/>
        </p:nvSpPr>
        <p:spPr>
          <a:xfrm>
            <a:off x="7543800" y="2057400"/>
            <a:ext cx="3749040" cy="749808"/>
          </a:xfrm>
          <a:prstGeom prst="roundRect">
            <a:avLst>
              <a:gd name="adj" fmla="val 9756"/>
            </a:avLst>
          </a:prstGeom>
          <a:solidFill>
            <a:srgbClr val="0E2A4D"/>
          </a:solidFill>
          <a:ln w="12700">
            <a:solidFill>
              <a:srgbClr val="1F4573"/>
            </a:solidFill>
            <a:prstDash val="solid"/>
          </a:ln>
        </p:spPr>
      </p:sp>
      <p:sp>
        <p:nvSpPr>
          <p:cNvPr id="15" name="Badge 1"/>
          <p:cNvSpPr/>
          <p:nvPr/>
        </p:nvSpPr>
        <p:spPr>
          <a:xfrm>
            <a:off x="7699248" y="2203704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699248" y="2203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2148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Divya Teja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321040" y="24780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FDC"/>
                </a:solidFill>
              </a:rPr>
              <a:t>Roll No. 2620030005</a:t>
            </a:r>
            <a:endParaRPr lang="en-US" sz="1250" dirty="0"/>
          </a:p>
        </p:txBody>
      </p:sp>
      <p:sp>
        <p:nvSpPr>
          <p:cNvPr id="19" name="Member 2"/>
          <p:cNvSpPr/>
          <p:nvPr/>
        </p:nvSpPr>
        <p:spPr>
          <a:xfrm>
            <a:off x="7543800" y="2953512"/>
            <a:ext cx="3749040" cy="749808"/>
          </a:xfrm>
          <a:prstGeom prst="roundRect">
            <a:avLst>
              <a:gd name="adj" fmla="val 9756"/>
            </a:avLst>
          </a:prstGeom>
          <a:solidFill>
            <a:srgbClr val="0E2A4D"/>
          </a:solidFill>
          <a:ln w="12700">
            <a:solidFill>
              <a:srgbClr val="1F4573"/>
            </a:solidFill>
            <a:prstDash val="solid"/>
          </a:ln>
        </p:spPr>
      </p:sp>
      <p:sp>
        <p:nvSpPr>
          <p:cNvPr id="20" name="Badge 2"/>
          <p:cNvSpPr/>
          <p:nvPr/>
        </p:nvSpPr>
        <p:spPr>
          <a:xfrm>
            <a:off x="7699248" y="3099816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699248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321040" y="30449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Amogh Andra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8321040" y="33741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FDC"/>
                </a:solidFill>
              </a:rPr>
              <a:t>Roll No. 2620030016</a:t>
            </a:r>
            <a:endParaRPr lang="en-US" sz="1250" dirty="0"/>
          </a:p>
        </p:txBody>
      </p:sp>
      <p:sp>
        <p:nvSpPr>
          <p:cNvPr id="24" name="Member 3"/>
          <p:cNvSpPr/>
          <p:nvPr/>
        </p:nvSpPr>
        <p:spPr>
          <a:xfrm>
            <a:off x="7543800" y="3849624"/>
            <a:ext cx="3749040" cy="749808"/>
          </a:xfrm>
          <a:prstGeom prst="roundRect">
            <a:avLst>
              <a:gd name="adj" fmla="val 9756"/>
            </a:avLst>
          </a:prstGeom>
          <a:solidFill>
            <a:srgbClr val="0E2A4D"/>
          </a:solidFill>
          <a:ln w="12700">
            <a:solidFill>
              <a:srgbClr val="1F4573"/>
            </a:solidFill>
            <a:prstDash val="solid"/>
          </a:ln>
        </p:spPr>
      </p:sp>
      <p:sp>
        <p:nvSpPr>
          <p:cNvPr id="25" name="Badge 3"/>
          <p:cNvSpPr/>
          <p:nvPr/>
        </p:nvSpPr>
        <p:spPr>
          <a:xfrm>
            <a:off x="7699248" y="399592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699248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321040" y="394106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Keerthi Sagar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8321040" y="42702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FDC"/>
                </a:solidFill>
              </a:rPr>
              <a:t>Roll No. 2620030018</a:t>
            </a:r>
            <a:endParaRPr lang="en-US" sz="1250" dirty="0"/>
          </a:p>
        </p:txBody>
      </p:sp>
      <p:sp>
        <p:nvSpPr>
          <p:cNvPr id="29" name="Member 4"/>
          <p:cNvSpPr/>
          <p:nvPr/>
        </p:nvSpPr>
        <p:spPr>
          <a:xfrm>
            <a:off x="7543800" y="4745736"/>
            <a:ext cx="3749040" cy="749808"/>
          </a:xfrm>
          <a:prstGeom prst="roundRect">
            <a:avLst>
              <a:gd name="adj" fmla="val 9756"/>
            </a:avLst>
          </a:prstGeom>
          <a:solidFill>
            <a:srgbClr val="0E2A4D"/>
          </a:solidFill>
          <a:ln w="12700">
            <a:solidFill>
              <a:srgbClr val="1F4573"/>
            </a:solidFill>
            <a:prstDash val="solid"/>
          </a:ln>
        </p:spPr>
      </p:sp>
      <p:sp>
        <p:nvSpPr>
          <p:cNvPr id="30" name="Badge 4"/>
          <p:cNvSpPr/>
          <p:nvPr/>
        </p:nvSpPr>
        <p:spPr>
          <a:xfrm>
            <a:off x="7699248" y="48920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699248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8321040" y="483717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Siri Samanvitha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8321040" y="51663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FDC"/>
                </a:solidFill>
              </a:rPr>
              <a:t>Roll No. 2620030134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548640" y="27432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Introduction and Objective</a:t>
            </a:r>
            <a:endParaRPr lang="en-US" sz="3000" dirty="0"/>
          </a:p>
        </p:txBody>
      </p:sp>
      <p:sp>
        <p:nvSpPr>
          <p:cNvPr id="3" name="Intro card"/>
          <p:cNvSpPr/>
          <p:nvPr/>
        </p:nvSpPr>
        <p:spPr>
          <a:xfrm>
            <a:off x="548640" y="1280160"/>
            <a:ext cx="5394960" cy="3063240"/>
          </a:xfrm>
          <a:prstGeom prst="roundRect">
            <a:avLst>
              <a:gd name="adj" fmla="val 2985"/>
            </a:avLst>
          </a:prstGeom>
          <a:solidFill>
            <a:srgbClr val="0E2A4D"/>
          </a:solidFill>
          <a:ln w="12700">
            <a:solidFill>
              <a:srgbClr val="1F457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</a:rPr>
              <a:t>WHAT IS THIS PROJECT?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Computers store numbers as binary digits. Arithmetic circuits combine these bits to calculate, and they form the heart of a processor’s </a:t>
            </a:r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Arithmetic Logic Unit (ALU)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FFFFFF"/>
                </a:solidFill>
              </a:rPr>
              <a:t> 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We built a 4-bit calculator in Logisim that performs </a:t>
            </a:r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</a:rPr>
              <a:t>A + B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 and </a:t>
            </a:r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</a:rPr>
              <a:t>A − B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 on unsigned values 0–15, using one adder for both operations. Inputs are changed interactively, and the circuit shows the 4-bit result with a carry/borrow flag.</a:t>
            </a:r>
            <a:endParaRPr lang="en-US" sz="1500" dirty="0"/>
          </a:p>
        </p:txBody>
      </p:sp>
      <p:sp>
        <p:nvSpPr>
          <p:cNvPr id="6" name="Stat 1"/>
          <p:cNvSpPr/>
          <p:nvPr/>
        </p:nvSpPr>
        <p:spPr>
          <a:xfrm>
            <a:off x="548640" y="4526280"/>
            <a:ext cx="1737360" cy="1554480"/>
          </a:xfrm>
          <a:prstGeom prst="roundRect">
            <a:avLst>
              <a:gd name="adj" fmla="val 5882"/>
            </a:avLst>
          </a:prstGeom>
          <a:solidFill>
            <a:srgbClr val="0B2545"/>
          </a:solidFill>
          <a:ln w="12700">
            <a:solidFill>
              <a:srgbClr val="2B5C9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68172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4-bit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440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FDC"/>
                </a:solidFill>
              </a:rPr>
              <a:t>operands 0–15</a:t>
            </a:r>
            <a:endParaRPr lang="en-US" sz="1300" dirty="0"/>
          </a:p>
        </p:txBody>
      </p:sp>
      <p:sp>
        <p:nvSpPr>
          <p:cNvPr id="9" name="Stat 2"/>
          <p:cNvSpPr/>
          <p:nvPr/>
        </p:nvSpPr>
        <p:spPr>
          <a:xfrm>
            <a:off x="2377440" y="4526280"/>
            <a:ext cx="1737360" cy="1554480"/>
          </a:xfrm>
          <a:prstGeom prst="roundRect">
            <a:avLst>
              <a:gd name="adj" fmla="val 5882"/>
            </a:avLst>
          </a:prstGeom>
          <a:solidFill>
            <a:srgbClr val="0B2545"/>
          </a:solidFill>
          <a:ln w="12700">
            <a:solidFill>
              <a:srgbClr val="2B5C9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77440" y="468172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1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5440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FDC"/>
                </a:solidFill>
              </a:rPr>
              <a:t>shared adder</a:t>
            </a:r>
            <a:endParaRPr lang="en-US" sz="1300" dirty="0"/>
          </a:p>
        </p:txBody>
      </p:sp>
      <p:sp>
        <p:nvSpPr>
          <p:cNvPr id="12" name="Stat 3"/>
          <p:cNvSpPr/>
          <p:nvPr/>
        </p:nvSpPr>
        <p:spPr>
          <a:xfrm>
            <a:off x="4206240" y="4526280"/>
            <a:ext cx="1737360" cy="1554480"/>
          </a:xfrm>
          <a:prstGeom prst="roundRect">
            <a:avLst>
              <a:gd name="adj" fmla="val 5882"/>
            </a:avLst>
          </a:prstGeom>
          <a:solidFill>
            <a:srgbClr val="0B2545"/>
          </a:solidFill>
          <a:ln w="12700">
            <a:solidFill>
              <a:srgbClr val="2B5C9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06240" y="468172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4"/>
                </a:solidFill>
              </a:rPr>
              <a:t>512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5440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FDC"/>
                </a:solidFill>
              </a:rPr>
              <a:t>input cases tested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</a:rPr>
              <a:t>OBJECTIVES</a:t>
            </a:r>
            <a:endParaRPr lang="en-US" sz="1100" dirty="0"/>
          </a:p>
        </p:txBody>
      </p:sp>
      <p:sp>
        <p:nvSpPr>
          <p:cNvPr id="16" name="Objective 1"/>
          <p:cNvSpPr/>
          <p:nvPr/>
        </p:nvSpPr>
        <p:spPr>
          <a:xfrm>
            <a:off x="6309360" y="1645920"/>
            <a:ext cx="5330952" cy="1371600"/>
          </a:xfrm>
          <a:prstGeom prst="roundRect">
            <a:avLst>
              <a:gd name="adj" fmla="val 6667"/>
            </a:avLst>
          </a:prstGeom>
          <a:solidFill>
            <a:srgbClr val="0E2A4D"/>
          </a:solidFill>
          <a:ln w="12700">
            <a:solidFill>
              <a:srgbClr val="1F4573"/>
            </a:solidFill>
            <a:prstDash val="solid"/>
          </a:ln>
        </p:spPr>
      </p:sp>
      <p:sp>
        <p:nvSpPr>
          <p:cNvPr id="17" name="Num 1"/>
          <p:cNvSpPr/>
          <p:nvPr/>
        </p:nvSpPr>
        <p:spPr>
          <a:xfrm>
            <a:off x="6537960" y="1901952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1901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33"/>
                </a:solidFill>
              </a:rPr>
              <a:t>01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179222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Build the circuit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406640" y="217627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E3F5"/>
                </a:solidFill>
              </a:rPr>
              <a:t>Connect a 4-bit adder, XOR gates and a mode input (SUB) so both operations share one arithmetic path.</a:t>
            </a:r>
            <a:endParaRPr lang="en-US" sz="1300" dirty="0"/>
          </a:p>
        </p:txBody>
      </p:sp>
      <p:sp>
        <p:nvSpPr>
          <p:cNvPr id="21" name="Objective 2"/>
          <p:cNvSpPr/>
          <p:nvPr/>
        </p:nvSpPr>
        <p:spPr>
          <a:xfrm>
            <a:off x="6309360" y="3154680"/>
            <a:ext cx="5330952" cy="1371600"/>
          </a:xfrm>
          <a:prstGeom prst="roundRect">
            <a:avLst>
              <a:gd name="adj" fmla="val 6667"/>
            </a:avLst>
          </a:prstGeom>
          <a:solidFill>
            <a:srgbClr val="0E2A4D"/>
          </a:solidFill>
          <a:ln w="12700">
            <a:solidFill>
              <a:srgbClr val="1F4573"/>
            </a:solidFill>
            <a:prstDash val="solid"/>
          </a:ln>
        </p:spPr>
      </p:sp>
      <p:sp>
        <p:nvSpPr>
          <p:cNvPr id="22" name="Num 2"/>
          <p:cNvSpPr/>
          <p:nvPr/>
        </p:nvSpPr>
        <p:spPr>
          <a:xfrm>
            <a:off x="6537960" y="3410712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37960" y="34107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33"/>
                </a:solidFill>
              </a:rPr>
              <a:t>02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406640" y="330098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Explain subtraction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406640" y="368503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E3F5"/>
                </a:solidFill>
              </a:rPr>
              <a:t>Invert B and add 1 to form the two’s complement; SUB drives both the XOR gates and the carry-in.</a:t>
            </a:r>
            <a:endParaRPr lang="en-US" sz="1300" dirty="0"/>
          </a:p>
        </p:txBody>
      </p:sp>
      <p:sp>
        <p:nvSpPr>
          <p:cNvPr id="26" name="Objective 3"/>
          <p:cNvSpPr/>
          <p:nvPr/>
        </p:nvSpPr>
        <p:spPr>
          <a:xfrm>
            <a:off x="6309360" y="4663440"/>
            <a:ext cx="5330952" cy="1371600"/>
          </a:xfrm>
          <a:prstGeom prst="roundRect">
            <a:avLst>
              <a:gd name="adj" fmla="val 6667"/>
            </a:avLst>
          </a:prstGeom>
          <a:solidFill>
            <a:srgbClr val="0E2A4D"/>
          </a:solidFill>
          <a:ln w="12700">
            <a:solidFill>
              <a:srgbClr val="1F4573"/>
            </a:solidFill>
            <a:prstDash val="solid"/>
          </a:ln>
        </p:spPr>
      </p:sp>
      <p:sp>
        <p:nvSpPr>
          <p:cNvPr id="27" name="Num 3"/>
          <p:cNvSpPr/>
          <p:nvPr/>
        </p:nvSpPr>
        <p:spPr>
          <a:xfrm>
            <a:off x="6537960" y="4919472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37960" y="4919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33"/>
                </a:solidFill>
              </a:rPr>
              <a:t>03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406640" y="480974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Verify the outputs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519379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E3F5"/>
                </a:solidFill>
              </a:rPr>
              <a:t>Check zero, equal operands, carry and borrow cases and compare RESULT and flag with the expected answer.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9C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548640" y="27432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Theory and Logic Circuit</a:t>
            </a:r>
            <a:endParaRPr lang="en-US" sz="3000" dirty="0"/>
          </a:p>
        </p:txBody>
      </p:sp>
      <p:sp>
        <p:nvSpPr>
          <p:cNvPr id="3" name="Idea card"/>
          <p:cNvSpPr/>
          <p:nvPr/>
        </p:nvSpPr>
        <p:spPr>
          <a:xfrm>
            <a:off x="548640" y="128016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0E2A4D"/>
          </a:solidFill>
          <a:ln w="12700">
            <a:solidFill>
              <a:srgbClr val="1F457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44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</a:rPr>
              <a:t>CORE IDEA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Subtraction becomes addition using two’s complement: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A − B = A + B̄ + 1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XOR with SUB flips B only in subtract mode, and SUB is also fed in as the carry-in.</a:t>
            </a:r>
            <a:endParaRPr lang="en-US" sz="1300" dirty="0"/>
          </a:p>
        </p:txBody>
      </p:sp>
      <p:sp>
        <p:nvSpPr>
          <p:cNvPr id="6" name="Gates card"/>
          <p:cNvSpPr/>
          <p:nvPr/>
        </p:nvSpPr>
        <p:spPr>
          <a:xfrm>
            <a:off x="548640" y="3749040"/>
            <a:ext cx="3291840" cy="2514600"/>
          </a:xfrm>
          <a:prstGeom prst="roundRect">
            <a:avLst>
              <a:gd name="adj" fmla="val 3636"/>
            </a:avLst>
          </a:prstGeom>
          <a:solidFill>
            <a:srgbClr val="0E2A4D"/>
          </a:solidFill>
          <a:ln w="12700">
            <a:solidFill>
              <a:srgbClr val="1F457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913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</a:rPr>
              <a:t>LOGIC GATES USED</a:t>
            </a:r>
            <a:endParaRPr lang="en-US" sz="1100" dirty="0"/>
          </a:p>
        </p:txBody>
      </p:sp>
      <p:sp>
        <p:nvSpPr>
          <p:cNvPr id="8" name="XOR chip"/>
          <p:cNvSpPr/>
          <p:nvPr/>
        </p:nvSpPr>
        <p:spPr>
          <a:xfrm>
            <a:off x="777240" y="4297680"/>
            <a:ext cx="731520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4297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A33"/>
                </a:solidFill>
              </a:rPr>
              <a:t>XOR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3F5"/>
                </a:solidFill>
              </a:rPr>
              <a:t>Conditional invert of B; sum bits; status flag</a:t>
            </a:r>
            <a:endParaRPr lang="en-US" sz="1150" dirty="0"/>
          </a:p>
        </p:txBody>
      </p:sp>
      <p:sp>
        <p:nvSpPr>
          <p:cNvPr id="11" name="AND chip"/>
          <p:cNvSpPr/>
          <p:nvPr/>
        </p:nvSpPr>
        <p:spPr>
          <a:xfrm>
            <a:off x="777240" y="4937760"/>
            <a:ext cx="731520" cy="4572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4937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A33"/>
                </a:solidFill>
              </a:rPr>
              <a:t>AND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4937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3F5"/>
                </a:solidFill>
              </a:rPr>
              <a:t>Generates carry from A·B and P·Cin</a:t>
            </a:r>
            <a:endParaRPr lang="en-US" sz="1150" dirty="0"/>
          </a:p>
        </p:txBody>
      </p:sp>
      <p:sp>
        <p:nvSpPr>
          <p:cNvPr id="14" name="OR chip"/>
          <p:cNvSpPr/>
          <p:nvPr/>
        </p:nvSpPr>
        <p:spPr>
          <a:xfrm>
            <a:off x="777240" y="5577840"/>
            <a:ext cx="731520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55778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A33"/>
                </a:solidFill>
              </a:rPr>
              <a:t>OR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5577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3F5"/>
                </a:solidFill>
              </a:rPr>
              <a:t>Combines the two carry terms into Cout</a:t>
            </a:r>
            <a:endParaRPr lang="en-US" sz="1150" dirty="0"/>
          </a:p>
        </p:txBody>
      </p:sp>
      <p:sp>
        <p:nvSpPr>
          <p:cNvPr id="17" name="Block card"/>
          <p:cNvSpPr/>
          <p:nvPr/>
        </p:nvSpPr>
        <p:spPr>
          <a:xfrm>
            <a:off x="4023360" y="1280160"/>
            <a:ext cx="7616952" cy="2286000"/>
          </a:xfrm>
          <a:prstGeom prst="roundRect">
            <a:avLst>
              <a:gd name="adj" fmla="val 4000"/>
            </a:avLst>
          </a:prstGeom>
          <a:solidFill>
            <a:srgbClr val="F1F6FD"/>
          </a:solidFill>
          <a:ln w="12700">
            <a:solidFill>
              <a:srgbClr val="F1F6F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06240" y="1353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2545"/>
                </a:solidFill>
              </a:rPr>
              <a:t>BLOCK DIAGRAM  (4-BIT DATAPATH)</a:t>
            </a:r>
            <a:endParaRPr lang="en-US" sz="1100" dirty="0"/>
          </a:p>
        </p:txBody>
      </p:sp>
      <p:pic>
        <p:nvPicPr>
          <p:cNvPr id="19" name="Image 0" descr="Block diagram of the 4-bit arithmetic calculator: A and B[3:0], XOR with SUB mask, 4-bit adder, RESULT and carry/borrow fla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572768"/>
            <a:ext cx="7342632" cy="1984248"/>
          </a:xfrm>
          <a:prstGeom prst="rect">
            <a:avLst/>
          </a:prstGeom>
        </p:spPr>
      </p:pic>
      <p:sp>
        <p:nvSpPr>
          <p:cNvPr id="20" name="FA card"/>
          <p:cNvSpPr/>
          <p:nvPr/>
        </p:nvSpPr>
        <p:spPr>
          <a:xfrm>
            <a:off x="4023360" y="3749040"/>
            <a:ext cx="4937760" cy="2514600"/>
          </a:xfrm>
          <a:prstGeom prst="roundRect">
            <a:avLst>
              <a:gd name="adj" fmla="val 3636"/>
            </a:avLst>
          </a:prstGeom>
          <a:solidFill>
            <a:srgbClr val="F1F6FD"/>
          </a:solidFill>
          <a:ln w="12700">
            <a:solidFill>
              <a:srgbClr val="F1F6F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206240" y="38221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2545"/>
                </a:solidFill>
              </a:rPr>
              <a:t>1-BIT FULL ADDER (REPEATED 4 TIMES)</a:t>
            </a:r>
            <a:endParaRPr lang="en-US" sz="1100" dirty="0"/>
          </a:p>
        </p:txBody>
      </p:sp>
      <p:pic>
        <p:nvPicPr>
          <p:cNvPr id="22" name="Image 1" descr="Gate-level full adder with two XOR gates, two AND gates and one OR ga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4069080"/>
            <a:ext cx="4663440" cy="2212848"/>
          </a:xfrm>
          <a:prstGeom prst="rect">
            <a:avLst/>
          </a:prstGeom>
        </p:spPr>
      </p:pic>
      <p:sp>
        <p:nvSpPr>
          <p:cNvPr id="23" name="Equation card"/>
          <p:cNvSpPr/>
          <p:nvPr/>
        </p:nvSpPr>
        <p:spPr>
          <a:xfrm>
            <a:off x="9098280" y="3749040"/>
            <a:ext cx="2542032" cy="2514600"/>
          </a:xfrm>
          <a:prstGeom prst="roundRect">
            <a:avLst>
              <a:gd name="adj" fmla="val 3636"/>
            </a:avLst>
          </a:prstGeom>
          <a:solidFill>
            <a:srgbClr val="0E2A4D"/>
          </a:solidFill>
          <a:ln w="12700">
            <a:solidFill>
              <a:srgbClr val="1F4573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281160" y="3913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</a:rPr>
              <a:t>EQUATIONS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9281160" y="425196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FDC"/>
                </a:solidFill>
              </a:rPr>
              <a:t>Sum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 = A ⊕ B′ ⊕ Cin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A9BFDC"/>
                </a:solidFill>
              </a:rPr>
              <a:t>Carry out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Cout = A·B′ + Cin(A ⊕ B′)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A9BFDC"/>
                </a:solidFill>
              </a:rPr>
              <a:t>Flag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Cout ⊕ SUB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9C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548640" y="27432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Circuit Design in Logisim</a:t>
            </a:r>
            <a:endParaRPr lang="en-US" sz="3000" dirty="0"/>
          </a:p>
        </p:txBody>
      </p:sp>
      <p:sp>
        <p:nvSpPr>
          <p:cNvPr id="3" name="Screenshot card"/>
          <p:cNvSpPr/>
          <p:nvPr/>
        </p:nvSpPr>
        <p:spPr>
          <a:xfrm>
            <a:off x="548640" y="1280160"/>
            <a:ext cx="72237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Logisim circuit with inputs A, B, SUB, XOR gate, sign extender, 4-bit adder and outputs RESULT and CARRY_BORR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6949440" cy="2879054"/>
          </a:xfrm>
          <a:prstGeom prst="rect">
            <a:avLst/>
          </a:prstGeom>
        </p:spPr>
      </p:pic>
      <p:sp>
        <p:nvSpPr>
          <p:cNvPr id="5" name="Marker 1"/>
          <p:cNvSpPr/>
          <p:nvPr/>
        </p:nvSpPr>
        <p:spPr>
          <a:xfrm>
            <a:off x="1503274" y="2989304"/>
            <a:ext cx="310896" cy="310896"/>
          </a:xfrm>
          <a:prstGeom prst="ellipse">
            <a:avLst/>
          </a:prstGeom>
          <a:solidFill>
            <a:schemeClr val="accent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503274" y="2989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A33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Marker 2"/>
          <p:cNvSpPr/>
          <p:nvPr/>
        </p:nvSpPr>
        <p:spPr>
          <a:xfrm>
            <a:off x="2302459" y="3190838"/>
            <a:ext cx="310896" cy="310896"/>
          </a:xfrm>
          <a:prstGeom prst="ellipse">
            <a:avLst/>
          </a:prstGeom>
          <a:solidFill>
            <a:schemeClr val="accent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302459" y="31908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A33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Marker 3"/>
          <p:cNvSpPr/>
          <p:nvPr/>
        </p:nvSpPr>
        <p:spPr>
          <a:xfrm>
            <a:off x="3310128" y="2586237"/>
            <a:ext cx="310896" cy="310896"/>
          </a:xfrm>
          <a:prstGeom prst="ellipse">
            <a:avLst/>
          </a:prstGeom>
          <a:solidFill>
            <a:schemeClr val="accent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10128" y="258623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A33"/>
                </a:solidFill>
              </a:rPr>
              <a:t>3</a:t>
            </a:r>
            <a:endParaRPr lang="en-US" sz="1200" dirty="0"/>
          </a:p>
        </p:txBody>
      </p:sp>
      <p:sp>
        <p:nvSpPr>
          <p:cNvPr id="11" name="Marker 4"/>
          <p:cNvSpPr/>
          <p:nvPr/>
        </p:nvSpPr>
        <p:spPr>
          <a:xfrm>
            <a:off x="5082235" y="2096798"/>
            <a:ext cx="310896" cy="310896"/>
          </a:xfrm>
          <a:prstGeom prst="ellipse">
            <a:avLst/>
          </a:prstGeom>
          <a:solidFill>
            <a:schemeClr val="accent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82235" y="209679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A33"/>
                </a:solidFill>
              </a:rPr>
              <a:t>4</a:t>
            </a:r>
            <a:endParaRPr lang="en-US" sz="1200" dirty="0"/>
          </a:p>
        </p:txBody>
      </p:sp>
      <p:sp>
        <p:nvSpPr>
          <p:cNvPr id="13" name="Marker 5"/>
          <p:cNvSpPr/>
          <p:nvPr/>
        </p:nvSpPr>
        <p:spPr>
          <a:xfrm>
            <a:off x="6089904" y="1607358"/>
            <a:ext cx="310896" cy="310896"/>
          </a:xfrm>
          <a:prstGeom prst="ellipse">
            <a:avLst/>
          </a:prstGeom>
          <a:solidFill>
            <a:schemeClr val="accent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089904" y="160735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A33"/>
                </a:solidFill>
              </a:rPr>
              <a:t>5</a:t>
            </a:r>
            <a:endParaRPr lang="en-US" sz="1200" dirty="0"/>
          </a:p>
        </p:txBody>
      </p:sp>
      <p:sp>
        <p:nvSpPr>
          <p:cNvPr id="15" name="Marker 6"/>
          <p:cNvSpPr/>
          <p:nvPr/>
        </p:nvSpPr>
        <p:spPr>
          <a:xfrm>
            <a:off x="5325466" y="3104466"/>
            <a:ext cx="310896" cy="310896"/>
          </a:xfrm>
          <a:prstGeom prst="ellipse">
            <a:avLst/>
          </a:prstGeom>
          <a:solidFill>
            <a:schemeClr val="accent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325466" y="31044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A33"/>
                </a:solidFill>
              </a:rPr>
              <a:t>6</a:t>
            </a:r>
            <a:endParaRPr lang="en-US" sz="1200" dirty="0"/>
          </a:p>
        </p:txBody>
      </p:sp>
      <p:sp>
        <p:nvSpPr>
          <p:cNvPr id="17" name="Tile 1"/>
          <p:cNvSpPr/>
          <p:nvPr/>
        </p:nvSpPr>
        <p:spPr>
          <a:xfrm>
            <a:off x="548640" y="4663440"/>
            <a:ext cx="1737360" cy="1051560"/>
          </a:xfrm>
          <a:prstGeom prst="roundRect">
            <a:avLst>
              <a:gd name="adj" fmla="val 8696"/>
            </a:avLst>
          </a:prstGeom>
          <a:solidFill>
            <a:srgbClr val="0E2A4D"/>
          </a:solidFill>
          <a:ln w="12700">
            <a:solidFill>
              <a:srgbClr val="1F457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47365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4-bit Adder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58368" y="50749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5E3F5"/>
                </a:solidFill>
              </a:rPr>
              <a:t>Logisim arithmetic library, data bits = 4</a:t>
            </a:r>
            <a:endParaRPr lang="en-US" sz="1050" dirty="0"/>
          </a:p>
        </p:txBody>
      </p:sp>
      <p:sp>
        <p:nvSpPr>
          <p:cNvPr id="20" name="Tile 2"/>
          <p:cNvSpPr/>
          <p:nvPr/>
        </p:nvSpPr>
        <p:spPr>
          <a:xfrm>
            <a:off x="2377440" y="4663440"/>
            <a:ext cx="1737360" cy="1051560"/>
          </a:xfrm>
          <a:prstGeom prst="roundRect">
            <a:avLst>
              <a:gd name="adj" fmla="val 8696"/>
            </a:avLst>
          </a:prstGeom>
          <a:solidFill>
            <a:srgbClr val="0E2A4D"/>
          </a:solidFill>
          <a:ln w="12700">
            <a:solidFill>
              <a:srgbClr val="1F457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487168" y="47365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XOR (4-bit)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2487168" y="50749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5E3F5"/>
                </a:solidFill>
              </a:rPr>
              <a:t>Inputs B and extended SUB mask</a:t>
            </a:r>
            <a:endParaRPr lang="en-US" sz="1050" dirty="0"/>
          </a:p>
        </p:txBody>
      </p:sp>
      <p:sp>
        <p:nvSpPr>
          <p:cNvPr id="23" name="Tile 3"/>
          <p:cNvSpPr/>
          <p:nvPr/>
        </p:nvSpPr>
        <p:spPr>
          <a:xfrm>
            <a:off x="4206240" y="4663440"/>
            <a:ext cx="1737360" cy="1051560"/>
          </a:xfrm>
          <a:prstGeom prst="roundRect">
            <a:avLst>
              <a:gd name="adj" fmla="val 8696"/>
            </a:avLst>
          </a:prstGeom>
          <a:solidFill>
            <a:srgbClr val="0E2A4D"/>
          </a:solidFill>
          <a:ln w="12700">
            <a:solidFill>
              <a:srgbClr val="1F457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315968" y="47365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Sign Extender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4315968" y="50749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5E3F5"/>
                </a:solidFill>
              </a:rPr>
              <a:t>Widens SUB from 1 to 4 bits</a:t>
            </a:r>
            <a:endParaRPr lang="en-US" sz="1050" dirty="0"/>
          </a:p>
        </p:txBody>
      </p:sp>
      <p:sp>
        <p:nvSpPr>
          <p:cNvPr id="26" name="Tile 4"/>
          <p:cNvSpPr/>
          <p:nvPr/>
        </p:nvSpPr>
        <p:spPr>
          <a:xfrm>
            <a:off x="6035040" y="4663440"/>
            <a:ext cx="1737360" cy="1051560"/>
          </a:xfrm>
          <a:prstGeom prst="roundRect">
            <a:avLst>
              <a:gd name="adj" fmla="val 8696"/>
            </a:avLst>
          </a:prstGeom>
          <a:solidFill>
            <a:srgbClr val="0E2A4D"/>
          </a:solidFill>
          <a:ln w="12700">
            <a:solidFill>
              <a:srgbClr val="1F457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144768" y="47365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Output pins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6144768" y="50749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5E3F5"/>
                </a:solidFill>
              </a:rPr>
              <a:t>RESULT (4-bit), CARRY_BORROW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09244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</a:rPr>
              <a:t>HOW THE CIRCUIT WORKS</a:t>
            </a:r>
            <a:endParaRPr lang="en-US" sz="1100" dirty="0"/>
          </a:p>
        </p:txBody>
      </p:sp>
      <p:sp>
        <p:nvSpPr>
          <p:cNvPr id="30" name="Step 1"/>
          <p:cNvSpPr/>
          <p:nvPr/>
        </p:nvSpPr>
        <p:spPr>
          <a:xfrm>
            <a:off x="8092440" y="1682496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092440" y="1682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A33"/>
                </a:solidFill>
              </a:rPr>
              <a:t>1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8549640" y="1627632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3EEFA"/>
                </a:solidFill>
              </a:rPr>
              <a:t>Inputs A, B (4-bit) and SUB (0 = add, 1 = subtract) are set with the Poke tool.</a:t>
            </a:r>
            <a:endParaRPr lang="en-US" sz="1200" dirty="0"/>
          </a:p>
        </p:txBody>
      </p:sp>
      <p:sp>
        <p:nvSpPr>
          <p:cNvPr id="33" name="Step 2"/>
          <p:cNvSpPr/>
          <p:nvPr/>
        </p:nvSpPr>
        <p:spPr>
          <a:xfrm>
            <a:off x="8092440" y="2359152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092440" y="2359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A33"/>
                </a:solidFill>
              </a:rPr>
              <a:t>2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8549640" y="230428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3EEFA"/>
                </a:solidFill>
              </a:rPr>
              <a:t>Sign extender copies SUB into a 4-bit mask: 0000 or 1111.</a:t>
            </a:r>
            <a:endParaRPr lang="en-US" sz="1200" dirty="0"/>
          </a:p>
        </p:txBody>
      </p:sp>
      <p:sp>
        <p:nvSpPr>
          <p:cNvPr id="36" name="Step 3"/>
          <p:cNvSpPr/>
          <p:nvPr/>
        </p:nvSpPr>
        <p:spPr>
          <a:xfrm>
            <a:off x="8092440" y="3035808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8092440" y="3035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A33"/>
                </a:solidFill>
              </a:rPr>
              <a:t>3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8549640" y="2980944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3EEFA"/>
                </a:solidFill>
              </a:rPr>
              <a:t>XOR gates pass B unchanged (SUB=0) or invert it (SUB=1).</a:t>
            </a:r>
            <a:endParaRPr lang="en-US" sz="1200" dirty="0"/>
          </a:p>
        </p:txBody>
      </p:sp>
      <p:sp>
        <p:nvSpPr>
          <p:cNvPr id="39" name="Step 4"/>
          <p:cNvSpPr/>
          <p:nvPr/>
        </p:nvSpPr>
        <p:spPr>
          <a:xfrm>
            <a:off x="8092440" y="3712464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8092440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A33"/>
                </a:solidFill>
              </a:rPr>
              <a:t>4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8549640" y="365760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3EEFA"/>
                </a:solidFill>
              </a:rPr>
              <a:t>Adder computes A + B′ + SUB; SUB is the carry-in.</a:t>
            </a:r>
            <a:endParaRPr lang="en-US" sz="1200" dirty="0"/>
          </a:p>
        </p:txBody>
      </p:sp>
      <p:sp>
        <p:nvSpPr>
          <p:cNvPr id="42" name="Step 5"/>
          <p:cNvSpPr/>
          <p:nvPr/>
        </p:nvSpPr>
        <p:spPr>
          <a:xfrm>
            <a:off x="8092440" y="4389120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809244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A33"/>
                </a:solidFill>
              </a:rPr>
              <a:t>5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8549640" y="4334256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3EEFA"/>
                </a:solidFill>
              </a:rPr>
              <a:t>RESULT shows the lower 4 bits of the sum.</a:t>
            </a:r>
            <a:endParaRPr lang="en-US" sz="1200" dirty="0"/>
          </a:p>
        </p:txBody>
      </p:sp>
      <p:sp>
        <p:nvSpPr>
          <p:cNvPr id="45" name="Step 6"/>
          <p:cNvSpPr/>
          <p:nvPr/>
        </p:nvSpPr>
        <p:spPr>
          <a:xfrm>
            <a:off x="8092440" y="5065776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8092440" y="5065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A33"/>
                </a:solidFill>
              </a:rPr>
              <a:t>6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8549640" y="5010912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3EEFA"/>
                </a:solidFill>
              </a:rPr>
              <a:t>Cout ⊕ SUB gives carry (add) or borrow (subtract).</a:t>
            </a:r>
            <a:endParaRPr lang="en-US" sz="1200" dirty="0"/>
          </a:p>
        </p:txBody>
      </p:sp>
      <p:sp>
        <p:nvSpPr>
          <p:cNvPr id="48" name="Formula bar"/>
          <p:cNvSpPr/>
          <p:nvPr/>
        </p:nvSpPr>
        <p:spPr>
          <a:xfrm>
            <a:off x="548640" y="5852160"/>
            <a:ext cx="7223760" cy="457200"/>
          </a:xfrm>
          <a:prstGeom prst="roundRect">
            <a:avLst>
              <a:gd name="adj" fmla="val 16000"/>
            </a:avLst>
          </a:prstGeom>
          <a:solidFill>
            <a:srgbClr val="0B2545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548640" y="585216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RESULT = A + (B ⊕ {SUB,SUB,SUB,SUB}) + SUB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9C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548640" y="27432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Simulation Results</a:t>
            </a:r>
            <a:endParaRPr lang="en-US" sz="3000" dirty="0"/>
          </a:p>
        </p:txBody>
      </p:sp>
      <p:sp>
        <p:nvSpPr>
          <p:cNvPr id="3" name="Sim thumb"/>
          <p:cNvSpPr/>
          <p:nvPr/>
        </p:nvSpPr>
        <p:spPr>
          <a:xfrm>
            <a:off x="548640" y="1280160"/>
            <a:ext cx="39319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Logisim simulation of 0101 + 0011 giving 100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44168"/>
            <a:ext cx="3749040" cy="155317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200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FDC"/>
                </a:solidFill>
              </a:rPr>
              <a:t>Logisim run: 0101 + 0011 = 1000, flag 0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566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</a:rPr>
              <a:t>FULL-ADDER TRUTH TABLE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86200"/>
          <a:ext cx="3931920" cy="914400"/>
        </p:xfrm>
        <a:graphic>
          <a:graphicData uri="http://schemas.openxmlformats.org/drawingml/2006/table">
            <a:tbl>
              <a:tblPr/>
              <a:tblGrid>
                <a:gridCol w="786384"/>
                <a:gridCol w="786384"/>
                <a:gridCol w="786384"/>
                <a:gridCol w="786384"/>
                <a:gridCol w="786384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7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7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7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7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7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D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D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D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5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D"/>
                    </a:solidFill>
                  </a:tcPr>
                </a:tc>
              </a:tr>
            </a:tbl>
          </a:graphicData>
        </a:graphic>
      </p:graphicFrame>
      <p:sp>
        <p:nvSpPr>
          <p:cNvPr id="8" name="Case 1"/>
          <p:cNvSpPr/>
          <p:nvPr/>
        </p:nvSpPr>
        <p:spPr>
          <a:xfrm>
            <a:off x="4663440" y="128016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0E2A4D"/>
          </a:solidFill>
          <a:ln w="12700">
            <a:solidFill>
              <a:srgbClr val="1F4573"/>
            </a:solidFill>
            <a:prstDash val="solid"/>
          </a:ln>
        </p:spPr>
      </p:sp>
      <p:sp>
        <p:nvSpPr>
          <p:cNvPr id="9" name="Case head 1"/>
          <p:cNvSpPr/>
          <p:nvPr/>
        </p:nvSpPr>
        <p:spPr>
          <a:xfrm>
            <a:off x="4663440" y="1280160"/>
            <a:ext cx="342900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4800600" y="1280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A33"/>
                </a:solidFill>
              </a:rPr>
              <a:t>SUB = 0   ·   ADD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766560" y="12801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71A33"/>
                </a:solidFill>
              </a:rPr>
              <a:t>FLAG = 0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800600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BFDC"/>
                </a:solidFill>
              </a:rPr>
              <a:t>A</a:t>
            </a:r>
            <a:endParaRPr lang="en-US" sz="1400" dirty="0"/>
          </a:p>
        </p:txBody>
      </p:sp>
      <p:sp>
        <p:nvSpPr>
          <p:cNvPr id="13" name="bit"/>
          <p:cNvSpPr/>
          <p:nvPr/>
        </p:nvSpPr>
        <p:spPr>
          <a:xfrm>
            <a:off x="5212080" y="1810512"/>
            <a:ext cx="402336" cy="365760"/>
          </a:xfrm>
          <a:prstGeom prst="roundRect">
            <a:avLst>
              <a:gd name="adj" fmla="val 12500"/>
            </a:avLst>
          </a:prstGeom>
          <a:solidFill>
            <a:srgbClr val="1F4573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212080" y="181051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</a:t>
            </a:r>
            <a:endParaRPr lang="en-US" sz="1500" dirty="0"/>
          </a:p>
        </p:txBody>
      </p:sp>
      <p:sp>
        <p:nvSpPr>
          <p:cNvPr id="15" name="bit"/>
          <p:cNvSpPr/>
          <p:nvPr/>
        </p:nvSpPr>
        <p:spPr>
          <a:xfrm>
            <a:off x="5669280" y="1810512"/>
            <a:ext cx="402336" cy="365760"/>
          </a:xfrm>
          <a:prstGeom prst="roundRect">
            <a:avLst>
              <a:gd name="adj" fmla="val 12500"/>
            </a:avLst>
          </a:prstGeom>
          <a:solidFill>
            <a:srgbClr val="1F4573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669280" y="181051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7" name="bit"/>
          <p:cNvSpPr/>
          <p:nvPr/>
        </p:nvSpPr>
        <p:spPr>
          <a:xfrm>
            <a:off x="6126480" y="1810512"/>
            <a:ext cx="402336" cy="365760"/>
          </a:xfrm>
          <a:prstGeom prst="roundRect">
            <a:avLst>
              <a:gd name="adj" fmla="val 12500"/>
            </a:avLst>
          </a:prstGeom>
          <a:solidFill>
            <a:srgbClr val="1F4573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126480" y="181051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</a:t>
            </a:r>
            <a:endParaRPr lang="en-US" sz="1500" dirty="0"/>
          </a:p>
        </p:txBody>
      </p:sp>
      <p:sp>
        <p:nvSpPr>
          <p:cNvPr id="19" name="bit"/>
          <p:cNvSpPr/>
          <p:nvPr/>
        </p:nvSpPr>
        <p:spPr>
          <a:xfrm>
            <a:off x="6583680" y="1810512"/>
            <a:ext cx="402336" cy="365760"/>
          </a:xfrm>
          <a:prstGeom prst="roundRect">
            <a:avLst>
              <a:gd name="adj" fmla="val 12500"/>
            </a:avLst>
          </a:prstGeom>
          <a:solidFill>
            <a:srgbClr val="1F4573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583680" y="181051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4800600" y="2249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BFDC"/>
                </a:solidFill>
              </a:rPr>
              <a:t>B</a:t>
            </a:r>
            <a:endParaRPr lang="en-US" sz="1400" dirty="0"/>
          </a:p>
        </p:txBody>
      </p:sp>
      <p:sp>
        <p:nvSpPr>
          <p:cNvPr id="22" name="bit"/>
          <p:cNvSpPr/>
          <p:nvPr/>
        </p:nvSpPr>
        <p:spPr>
          <a:xfrm>
            <a:off x="5212080" y="2249424"/>
            <a:ext cx="402336" cy="365760"/>
          </a:xfrm>
          <a:prstGeom prst="roundRect">
            <a:avLst>
              <a:gd name="adj" fmla="val 12500"/>
            </a:avLst>
          </a:prstGeom>
          <a:solidFill>
            <a:srgbClr val="1F4573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5212080" y="224942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</a:t>
            </a:r>
            <a:endParaRPr lang="en-US" sz="1500" dirty="0"/>
          </a:p>
        </p:txBody>
      </p:sp>
      <p:sp>
        <p:nvSpPr>
          <p:cNvPr id="24" name="bit"/>
          <p:cNvSpPr/>
          <p:nvPr/>
        </p:nvSpPr>
        <p:spPr>
          <a:xfrm>
            <a:off x="5669280" y="2249424"/>
            <a:ext cx="402336" cy="365760"/>
          </a:xfrm>
          <a:prstGeom prst="roundRect">
            <a:avLst>
              <a:gd name="adj" fmla="val 12500"/>
            </a:avLst>
          </a:prstGeom>
          <a:solidFill>
            <a:srgbClr val="1F457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5669280" y="224942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</a:t>
            </a:r>
            <a:endParaRPr lang="en-US" sz="1500" dirty="0"/>
          </a:p>
        </p:txBody>
      </p:sp>
      <p:sp>
        <p:nvSpPr>
          <p:cNvPr id="26" name="bit"/>
          <p:cNvSpPr/>
          <p:nvPr/>
        </p:nvSpPr>
        <p:spPr>
          <a:xfrm>
            <a:off x="6126480" y="2249424"/>
            <a:ext cx="402336" cy="365760"/>
          </a:xfrm>
          <a:prstGeom prst="roundRect">
            <a:avLst>
              <a:gd name="adj" fmla="val 12500"/>
            </a:avLst>
          </a:prstGeom>
          <a:solidFill>
            <a:srgbClr val="1F4573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126480" y="224942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28" name="bit"/>
          <p:cNvSpPr/>
          <p:nvPr/>
        </p:nvSpPr>
        <p:spPr>
          <a:xfrm>
            <a:off x="6583680" y="2249424"/>
            <a:ext cx="402336" cy="365760"/>
          </a:xfrm>
          <a:prstGeom prst="roundRect">
            <a:avLst>
              <a:gd name="adj" fmla="val 12500"/>
            </a:avLst>
          </a:prstGeom>
          <a:solidFill>
            <a:srgbClr val="1F4573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583680" y="224942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4800600" y="2706624"/>
            <a:ext cx="3154680" cy="0"/>
          </a:xfrm>
          <a:prstGeom prst="line">
            <a:avLst/>
          </a:prstGeom>
          <a:noFill/>
          <a:ln w="12700">
            <a:solidFill>
              <a:srgbClr val="2B5C94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4800600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R</a:t>
            </a:r>
            <a:endParaRPr lang="en-US" sz="1400" dirty="0"/>
          </a:p>
        </p:txBody>
      </p:sp>
      <p:sp>
        <p:nvSpPr>
          <p:cNvPr id="32" name="bit"/>
          <p:cNvSpPr/>
          <p:nvPr/>
        </p:nvSpPr>
        <p:spPr>
          <a:xfrm>
            <a:off x="5212080" y="2779776"/>
            <a:ext cx="402336" cy="365760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5212080" y="277977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A33"/>
                </a:solidFill>
              </a:rPr>
              <a:t>1</a:t>
            </a:r>
            <a:endParaRPr lang="en-US" sz="1500" dirty="0"/>
          </a:p>
        </p:txBody>
      </p:sp>
      <p:sp>
        <p:nvSpPr>
          <p:cNvPr id="34" name="bit"/>
          <p:cNvSpPr/>
          <p:nvPr/>
        </p:nvSpPr>
        <p:spPr>
          <a:xfrm>
            <a:off x="5669280" y="2779776"/>
            <a:ext cx="402336" cy="365760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5669280" y="277977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A33"/>
                </a:solidFill>
              </a:rPr>
              <a:t>0</a:t>
            </a:r>
            <a:endParaRPr lang="en-US" sz="1500" dirty="0"/>
          </a:p>
        </p:txBody>
      </p:sp>
      <p:sp>
        <p:nvSpPr>
          <p:cNvPr id="36" name="bit"/>
          <p:cNvSpPr/>
          <p:nvPr/>
        </p:nvSpPr>
        <p:spPr>
          <a:xfrm>
            <a:off x="6126480" y="2779776"/>
            <a:ext cx="402336" cy="365760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6126480" y="277977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A33"/>
                </a:solidFill>
              </a:rPr>
              <a:t>0</a:t>
            </a:r>
            <a:endParaRPr lang="en-US" sz="1500" dirty="0"/>
          </a:p>
        </p:txBody>
      </p:sp>
      <p:sp>
        <p:nvSpPr>
          <p:cNvPr id="38" name="bit"/>
          <p:cNvSpPr/>
          <p:nvPr/>
        </p:nvSpPr>
        <p:spPr>
          <a:xfrm>
            <a:off x="6583680" y="2779776"/>
            <a:ext cx="402336" cy="365760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6583680" y="277977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A33"/>
                </a:solidFill>
              </a:rPr>
              <a:t>0</a:t>
            </a:r>
            <a:endParaRPr lang="en-US" sz="1500" dirty="0"/>
          </a:p>
        </p:txBody>
      </p:sp>
      <p:sp>
        <p:nvSpPr>
          <p:cNvPr id="40" name="Text 36"/>
          <p:cNvSpPr txBox="1"/>
          <p:nvPr/>
        </p:nvSpPr>
        <p:spPr>
          <a:xfrm>
            <a:off x="7086600" y="181051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5 + 3 = 8</a:t>
            </a:r>
            <a:endParaRPr lang="en-US" sz="1150" dirty="0"/>
          </a:p>
        </p:txBody>
      </p:sp>
      <p:sp>
        <p:nvSpPr>
          <p:cNvPr id="41" name="Text 37"/>
          <p:cNvSpPr txBox="1"/>
          <p:nvPr/>
        </p:nvSpPr>
        <p:spPr>
          <a:xfrm>
            <a:off x="7086600" y="276148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FDC"/>
                </a:solidFill>
              </a:rPr>
              <a:t>No carry</a:t>
            </a:r>
            <a:endParaRPr lang="en-US" sz="1050" dirty="0"/>
          </a:p>
        </p:txBody>
      </p:sp>
      <p:sp>
        <p:nvSpPr>
          <p:cNvPr id="42" name="Case 2"/>
          <p:cNvSpPr/>
          <p:nvPr/>
        </p:nvSpPr>
        <p:spPr>
          <a:xfrm>
            <a:off x="8229600" y="128016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0E2A4D"/>
          </a:solidFill>
          <a:ln w="12700">
            <a:solidFill>
              <a:srgbClr val="1F4573"/>
            </a:solidFill>
            <a:prstDash val="solid"/>
          </a:ln>
        </p:spPr>
      </p:sp>
      <p:sp>
        <p:nvSpPr>
          <p:cNvPr id="43" name="Case head 2"/>
          <p:cNvSpPr/>
          <p:nvPr/>
        </p:nvSpPr>
        <p:spPr>
          <a:xfrm>
            <a:off x="8229600" y="1280160"/>
            <a:ext cx="3429000" cy="411480"/>
          </a:xfrm>
          <a:prstGeom prst="roundRect">
            <a:avLst>
              <a:gd name="adj" fmla="val 22222"/>
            </a:avLst>
          </a:prstGeom>
          <a:solidFill>
            <a:schemeClr val="accent3"/>
          </a:solidFill>
          <a:ln/>
        </p:spPr>
      </p:sp>
      <p:sp>
        <p:nvSpPr>
          <p:cNvPr id="44" name="Text 40"/>
          <p:cNvSpPr txBox="1"/>
          <p:nvPr/>
        </p:nvSpPr>
        <p:spPr>
          <a:xfrm>
            <a:off x="8366760" y="1280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A33"/>
                </a:solidFill>
              </a:rPr>
              <a:t>SUB = 0   ·   ADD</a:t>
            </a:r>
            <a:endParaRPr lang="en-US" sz="1300" dirty="0"/>
          </a:p>
        </p:txBody>
      </p:sp>
      <p:sp>
        <p:nvSpPr>
          <p:cNvPr id="45" name="Text 41"/>
          <p:cNvSpPr txBox="1"/>
          <p:nvPr/>
        </p:nvSpPr>
        <p:spPr>
          <a:xfrm>
            <a:off x="10332720" y="12801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71A33"/>
                </a:solidFill>
              </a:rPr>
              <a:t>FLAG = 1</a:t>
            </a:r>
            <a:endParaRPr lang="en-US" sz="1300" dirty="0"/>
          </a:p>
        </p:txBody>
      </p:sp>
      <p:sp>
        <p:nvSpPr>
          <p:cNvPr id="46" name="Text 42"/>
          <p:cNvSpPr txBox="1"/>
          <p:nvPr/>
        </p:nvSpPr>
        <p:spPr>
          <a:xfrm>
            <a:off x="8366760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BFDC"/>
                </a:solidFill>
              </a:rPr>
              <a:t>A</a:t>
            </a:r>
            <a:endParaRPr lang="en-US" sz="1400" dirty="0"/>
          </a:p>
        </p:txBody>
      </p:sp>
      <p:sp>
        <p:nvSpPr>
          <p:cNvPr id="47" name="bit"/>
          <p:cNvSpPr/>
          <p:nvPr/>
        </p:nvSpPr>
        <p:spPr>
          <a:xfrm>
            <a:off x="8778240" y="1810512"/>
            <a:ext cx="402336" cy="365760"/>
          </a:xfrm>
          <a:prstGeom prst="roundRect">
            <a:avLst>
              <a:gd name="adj" fmla="val 12500"/>
            </a:avLst>
          </a:prstGeom>
          <a:solidFill>
            <a:srgbClr val="1F4573"/>
          </a:solidFill>
          <a:ln/>
        </p:spPr>
      </p:sp>
      <p:sp>
        <p:nvSpPr>
          <p:cNvPr id="48" name="Text 44"/>
          <p:cNvSpPr txBox="1"/>
          <p:nvPr/>
        </p:nvSpPr>
        <p:spPr>
          <a:xfrm>
            <a:off x="8778240" y="181051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49" name="bit"/>
          <p:cNvSpPr/>
          <p:nvPr/>
        </p:nvSpPr>
        <p:spPr>
          <a:xfrm>
            <a:off x="9235440" y="1810512"/>
            <a:ext cx="402336" cy="365760"/>
          </a:xfrm>
          <a:prstGeom prst="roundRect">
            <a:avLst>
              <a:gd name="adj" fmla="val 12500"/>
            </a:avLst>
          </a:prstGeom>
          <a:solidFill>
            <a:srgbClr val="1F4573"/>
          </a:solidFill>
          <a:ln/>
        </p:spPr>
      </p:sp>
      <p:sp>
        <p:nvSpPr>
          <p:cNvPr id="50" name="Text 46"/>
          <p:cNvSpPr txBox="1"/>
          <p:nvPr/>
        </p:nvSpPr>
        <p:spPr>
          <a:xfrm>
            <a:off x="9235440" y="181051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51" name="bit"/>
          <p:cNvSpPr/>
          <p:nvPr/>
        </p:nvSpPr>
        <p:spPr>
          <a:xfrm>
            <a:off x="9692640" y="1810512"/>
            <a:ext cx="402336" cy="365760"/>
          </a:xfrm>
          <a:prstGeom prst="roundRect">
            <a:avLst>
              <a:gd name="adj" fmla="val 12500"/>
            </a:avLst>
          </a:prstGeom>
          <a:solidFill>
            <a:srgbClr val="1F4573"/>
          </a:solidFill>
          <a:ln/>
        </p:spPr>
      </p:sp>
      <p:sp>
        <p:nvSpPr>
          <p:cNvPr id="52" name="Text 48"/>
          <p:cNvSpPr txBox="1"/>
          <p:nvPr/>
        </p:nvSpPr>
        <p:spPr>
          <a:xfrm>
            <a:off x="9692640" y="181051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53" name="bit"/>
          <p:cNvSpPr/>
          <p:nvPr/>
        </p:nvSpPr>
        <p:spPr>
          <a:xfrm>
            <a:off x="10149840" y="1810512"/>
            <a:ext cx="402336" cy="365760"/>
          </a:xfrm>
          <a:prstGeom prst="roundRect">
            <a:avLst>
              <a:gd name="adj" fmla="val 12500"/>
            </a:avLst>
          </a:prstGeom>
          <a:solidFill>
            <a:srgbClr val="1F4573"/>
          </a:solidFill>
          <a:ln/>
        </p:spPr>
      </p:sp>
      <p:sp>
        <p:nvSpPr>
          <p:cNvPr id="54" name="Text 50"/>
          <p:cNvSpPr txBox="1"/>
          <p:nvPr/>
        </p:nvSpPr>
        <p:spPr>
          <a:xfrm>
            <a:off x="10149840" y="181051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55" name="Text 51"/>
          <p:cNvSpPr txBox="1"/>
          <p:nvPr/>
        </p:nvSpPr>
        <p:spPr>
          <a:xfrm>
            <a:off x="8366760" y="2249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BFDC"/>
                </a:solidFill>
              </a:rPr>
              <a:t>B</a:t>
            </a:r>
            <a:endParaRPr lang="en-US" sz="1400" dirty="0"/>
          </a:p>
        </p:txBody>
      </p:sp>
      <p:sp>
        <p:nvSpPr>
          <p:cNvPr id="56" name="bit"/>
          <p:cNvSpPr/>
          <p:nvPr/>
        </p:nvSpPr>
        <p:spPr>
          <a:xfrm>
            <a:off x="8778240" y="2249424"/>
            <a:ext cx="402336" cy="365760"/>
          </a:xfrm>
          <a:prstGeom prst="roundRect">
            <a:avLst>
              <a:gd name="adj" fmla="val 12500"/>
            </a:avLst>
          </a:prstGeom>
          <a:solidFill>
            <a:srgbClr val="1F4573"/>
          </a:solidFill>
          <a:ln/>
        </p:spPr>
      </p:sp>
      <p:sp>
        <p:nvSpPr>
          <p:cNvPr id="57" name="Text 53"/>
          <p:cNvSpPr txBox="1"/>
          <p:nvPr/>
        </p:nvSpPr>
        <p:spPr>
          <a:xfrm>
            <a:off x="8778240" y="224942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</a:t>
            </a:r>
            <a:endParaRPr lang="en-US" sz="1500" dirty="0"/>
          </a:p>
        </p:txBody>
      </p:sp>
      <p:sp>
        <p:nvSpPr>
          <p:cNvPr id="58" name="bit"/>
          <p:cNvSpPr/>
          <p:nvPr/>
        </p:nvSpPr>
        <p:spPr>
          <a:xfrm>
            <a:off x="9235440" y="2249424"/>
            <a:ext cx="402336" cy="365760"/>
          </a:xfrm>
          <a:prstGeom prst="roundRect">
            <a:avLst>
              <a:gd name="adj" fmla="val 12500"/>
            </a:avLst>
          </a:prstGeom>
          <a:solidFill>
            <a:srgbClr val="1F4573"/>
          </a:solidFill>
          <a:ln/>
        </p:spPr>
      </p:sp>
      <p:sp>
        <p:nvSpPr>
          <p:cNvPr id="59" name="Text 55"/>
          <p:cNvSpPr txBox="1"/>
          <p:nvPr/>
        </p:nvSpPr>
        <p:spPr>
          <a:xfrm>
            <a:off x="9235440" y="224942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</a:t>
            </a:r>
            <a:endParaRPr lang="en-US" sz="1500" dirty="0"/>
          </a:p>
        </p:txBody>
      </p:sp>
      <p:sp>
        <p:nvSpPr>
          <p:cNvPr id="60" name="bit"/>
          <p:cNvSpPr/>
          <p:nvPr/>
        </p:nvSpPr>
        <p:spPr>
          <a:xfrm>
            <a:off x="9692640" y="2249424"/>
            <a:ext cx="402336" cy="365760"/>
          </a:xfrm>
          <a:prstGeom prst="roundRect">
            <a:avLst>
              <a:gd name="adj" fmla="val 12500"/>
            </a:avLst>
          </a:prstGeom>
          <a:solidFill>
            <a:srgbClr val="1F4573"/>
          </a:solidFill>
          <a:ln/>
        </p:spPr>
      </p:sp>
      <p:sp>
        <p:nvSpPr>
          <p:cNvPr id="61" name="Text 57"/>
          <p:cNvSpPr txBox="1"/>
          <p:nvPr/>
        </p:nvSpPr>
        <p:spPr>
          <a:xfrm>
            <a:off x="9692640" y="224942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</a:t>
            </a:r>
            <a:endParaRPr lang="en-US" sz="1500" dirty="0"/>
          </a:p>
        </p:txBody>
      </p:sp>
      <p:sp>
        <p:nvSpPr>
          <p:cNvPr id="62" name="bit"/>
          <p:cNvSpPr/>
          <p:nvPr/>
        </p:nvSpPr>
        <p:spPr>
          <a:xfrm>
            <a:off x="10149840" y="2249424"/>
            <a:ext cx="402336" cy="365760"/>
          </a:xfrm>
          <a:prstGeom prst="roundRect">
            <a:avLst>
              <a:gd name="adj" fmla="val 12500"/>
            </a:avLst>
          </a:prstGeom>
          <a:solidFill>
            <a:srgbClr val="1F4573"/>
          </a:solidFill>
          <a:ln/>
        </p:spPr>
      </p:sp>
      <p:sp>
        <p:nvSpPr>
          <p:cNvPr id="63" name="Text 59"/>
          <p:cNvSpPr txBox="1"/>
          <p:nvPr/>
        </p:nvSpPr>
        <p:spPr>
          <a:xfrm>
            <a:off x="10149840" y="224942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4" name="Shape 60"/>
          <p:cNvSpPr/>
          <p:nvPr/>
        </p:nvSpPr>
        <p:spPr>
          <a:xfrm>
            <a:off x="8366760" y="2706624"/>
            <a:ext cx="3154680" cy="0"/>
          </a:xfrm>
          <a:prstGeom prst="line">
            <a:avLst/>
          </a:prstGeom>
          <a:noFill/>
          <a:ln w="12700">
            <a:solidFill>
              <a:srgbClr val="2B5C94"/>
            </a:solidFill>
            <a:prstDash val="solid"/>
          </a:ln>
        </p:spPr>
      </p:sp>
      <p:sp>
        <p:nvSpPr>
          <p:cNvPr id="65" name="Text 61"/>
          <p:cNvSpPr txBox="1"/>
          <p:nvPr/>
        </p:nvSpPr>
        <p:spPr>
          <a:xfrm>
            <a:off x="8366760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R</a:t>
            </a:r>
            <a:endParaRPr lang="en-US" sz="1400" dirty="0"/>
          </a:p>
        </p:txBody>
      </p:sp>
      <p:sp>
        <p:nvSpPr>
          <p:cNvPr id="66" name="bit"/>
          <p:cNvSpPr/>
          <p:nvPr/>
        </p:nvSpPr>
        <p:spPr>
          <a:xfrm>
            <a:off x="8778240" y="2779776"/>
            <a:ext cx="402336" cy="365760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/>
        </p:spPr>
      </p:sp>
      <p:sp>
        <p:nvSpPr>
          <p:cNvPr id="67" name="Text 63"/>
          <p:cNvSpPr txBox="1"/>
          <p:nvPr/>
        </p:nvSpPr>
        <p:spPr>
          <a:xfrm>
            <a:off x="8778240" y="277977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A33"/>
                </a:solidFill>
              </a:rPr>
              <a:t>0</a:t>
            </a:r>
            <a:endParaRPr lang="en-US" sz="1500" dirty="0"/>
          </a:p>
        </p:txBody>
      </p:sp>
      <p:sp>
        <p:nvSpPr>
          <p:cNvPr id="68" name="bit"/>
          <p:cNvSpPr/>
          <p:nvPr/>
        </p:nvSpPr>
        <p:spPr>
          <a:xfrm>
            <a:off x="9235440" y="2779776"/>
            <a:ext cx="402336" cy="365760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/>
        </p:spPr>
      </p:sp>
      <p:sp>
        <p:nvSpPr>
          <p:cNvPr id="69" name="Text 65"/>
          <p:cNvSpPr txBox="1"/>
          <p:nvPr/>
        </p:nvSpPr>
        <p:spPr>
          <a:xfrm>
            <a:off x="9235440" y="277977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A33"/>
                </a:solidFill>
              </a:rPr>
              <a:t>0</a:t>
            </a:r>
            <a:endParaRPr lang="en-US" sz="1500" dirty="0"/>
          </a:p>
        </p:txBody>
      </p:sp>
      <p:sp>
        <p:nvSpPr>
          <p:cNvPr id="70" name="bit"/>
          <p:cNvSpPr/>
          <p:nvPr/>
        </p:nvSpPr>
        <p:spPr>
          <a:xfrm>
            <a:off x="9692640" y="2779776"/>
            <a:ext cx="402336" cy="365760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/>
        </p:spPr>
      </p:sp>
      <p:sp>
        <p:nvSpPr>
          <p:cNvPr id="71" name="Text 67"/>
          <p:cNvSpPr txBox="1"/>
          <p:nvPr/>
        </p:nvSpPr>
        <p:spPr>
          <a:xfrm>
            <a:off x="9692640" y="277977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A33"/>
                </a:solidFill>
              </a:rPr>
              <a:t>0</a:t>
            </a:r>
            <a:endParaRPr lang="en-US" sz="1500" dirty="0"/>
          </a:p>
        </p:txBody>
      </p:sp>
      <p:sp>
        <p:nvSpPr>
          <p:cNvPr id="72" name="bit"/>
          <p:cNvSpPr/>
          <p:nvPr/>
        </p:nvSpPr>
        <p:spPr>
          <a:xfrm>
            <a:off x="10149840" y="2779776"/>
            <a:ext cx="402336" cy="365760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/>
        </p:spPr>
      </p:sp>
      <p:sp>
        <p:nvSpPr>
          <p:cNvPr id="73" name="Text 69"/>
          <p:cNvSpPr txBox="1"/>
          <p:nvPr/>
        </p:nvSpPr>
        <p:spPr>
          <a:xfrm>
            <a:off x="10149840" y="277977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A33"/>
                </a:solidFill>
              </a:rPr>
              <a:t>0</a:t>
            </a:r>
            <a:endParaRPr lang="en-US" sz="1500" dirty="0"/>
          </a:p>
        </p:txBody>
      </p:sp>
      <p:sp>
        <p:nvSpPr>
          <p:cNvPr id="74" name="Text 70"/>
          <p:cNvSpPr txBox="1"/>
          <p:nvPr/>
        </p:nvSpPr>
        <p:spPr>
          <a:xfrm>
            <a:off x="10652760" y="181051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15 + 1 = 16</a:t>
            </a:r>
            <a:endParaRPr lang="en-US" sz="1150" dirty="0"/>
          </a:p>
        </p:txBody>
      </p:sp>
      <p:sp>
        <p:nvSpPr>
          <p:cNvPr id="75" name="Text 71"/>
          <p:cNvSpPr txBox="1"/>
          <p:nvPr/>
        </p:nvSpPr>
        <p:spPr>
          <a:xfrm>
            <a:off x="10652760" y="276148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FDC"/>
                </a:solidFill>
              </a:rPr>
              <a:t>Carry out (16 → 0)</a:t>
            </a:r>
            <a:endParaRPr lang="en-US" sz="1050" dirty="0"/>
          </a:p>
        </p:txBody>
      </p:sp>
      <p:sp>
        <p:nvSpPr>
          <p:cNvPr id="76" name="Case 3"/>
          <p:cNvSpPr/>
          <p:nvPr/>
        </p:nvSpPr>
        <p:spPr>
          <a:xfrm>
            <a:off x="4663440" y="361188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0E2A4D"/>
          </a:solidFill>
          <a:ln w="12700">
            <a:solidFill>
              <a:srgbClr val="1F4573"/>
            </a:solidFill>
            <a:prstDash val="solid"/>
          </a:ln>
        </p:spPr>
      </p:sp>
      <p:sp>
        <p:nvSpPr>
          <p:cNvPr id="77" name="Case head 3"/>
          <p:cNvSpPr/>
          <p:nvPr/>
        </p:nvSpPr>
        <p:spPr>
          <a:xfrm>
            <a:off x="4663440" y="3611880"/>
            <a:ext cx="3429000" cy="411480"/>
          </a:xfrm>
          <a:prstGeom prst="roundRect">
            <a:avLst>
              <a:gd name="adj" fmla="val 22222"/>
            </a:avLst>
          </a:prstGeom>
          <a:solidFill>
            <a:schemeClr val="accent4"/>
          </a:solidFill>
          <a:ln/>
        </p:spPr>
      </p:sp>
      <p:sp>
        <p:nvSpPr>
          <p:cNvPr id="78" name="Text 74"/>
          <p:cNvSpPr txBox="1"/>
          <p:nvPr/>
        </p:nvSpPr>
        <p:spPr>
          <a:xfrm>
            <a:off x="4800600" y="3611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A33"/>
                </a:solidFill>
              </a:rPr>
              <a:t>SUB = 1   ·   SUB</a:t>
            </a:r>
            <a:endParaRPr lang="en-US" sz="1300" dirty="0"/>
          </a:p>
        </p:txBody>
      </p:sp>
      <p:sp>
        <p:nvSpPr>
          <p:cNvPr id="79" name="Text 75"/>
          <p:cNvSpPr txBox="1"/>
          <p:nvPr/>
        </p:nvSpPr>
        <p:spPr>
          <a:xfrm>
            <a:off x="6766560" y="36118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71A33"/>
                </a:solidFill>
              </a:rPr>
              <a:t>FLAG = 0</a:t>
            </a:r>
            <a:endParaRPr lang="en-US" sz="1300" dirty="0"/>
          </a:p>
        </p:txBody>
      </p:sp>
      <p:sp>
        <p:nvSpPr>
          <p:cNvPr id="80" name="Text 76"/>
          <p:cNvSpPr txBox="1"/>
          <p:nvPr/>
        </p:nvSpPr>
        <p:spPr>
          <a:xfrm>
            <a:off x="4800600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BFDC"/>
                </a:solidFill>
              </a:rPr>
              <a:t>A</a:t>
            </a:r>
            <a:endParaRPr lang="en-US" sz="1400" dirty="0"/>
          </a:p>
        </p:txBody>
      </p:sp>
      <p:sp>
        <p:nvSpPr>
          <p:cNvPr id="81" name="bit"/>
          <p:cNvSpPr/>
          <p:nvPr/>
        </p:nvSpPr>
        <p:spPr>
          <a:xfrm>
            <a:off x="5212080" y="4142232"/>
            <a:ext cx="402336" cy="365760"/>
          </a:xfrm>
          <a:prstGeom prst="roundRect">
            <a:avLst>
              <a:gd name="adj" fmla="val 12500"/>
            </a:avLst>
          </a:prstGeom>
          <a:solidFill>
            <a:srgbClr val="1F4573"/>
          </a:solidFill>
          <a:ln/>
        </p:spPr>
      </p:sp>
      <p:sp>
        <p:nvSpPr>
          <p:cNvPr id="82" name="Text 78"/>
          <p:cNvSpPr txBox="1"/>
          <p:nvPr/>
        </p:nvSpPr>
        <p:spPr>
          <a:xfrm>
            <a:off x="5212080" y="414223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3" name="bit"/>
          <p:cNvSpPr/>
          <p:nvPr/>
        </p:nvSpPr>
        <p:spPr>
          <a:xfrm>
            <a:off x="5669280" y="4142232"/>
            <a:ext cx="402336" cy="365760"/>
          </a:xfrm>
          <a:prstGeom prst="roundRect">
            <a:avLst>
              <a:gd name="adj" fmla="val 12500"/>
            </a:avLst>
          </a:prstGeom>
          <a:solidFill>
            <a:srgbClr val="1F4573"/>
          </a:solidFill>
          <a:ln/>
        </p:spPr>
      </p:sp>
      <p:sp>
        <p:nvSpPr>
          <p:cNvPr id="84" name="Text 80"/>
          <p:cNvSpPr txBox="1"/>
          <p:nvPr/>
        </p:nvSpPr>
        <p:spPr>
          <a:xfrm>
            <a:off x="5669280" y="414223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</a:t>
            </a:r>
            <a:endParaRPr lang="en-US" sz="1500" dirty="0"/>
          </a:p>
        </p:txBody>
      </p:sp>
      <p:sp>
        <p:nvSpPr>
          <p:cNvPr id="85" name="bit"/>
          <p:cNvSpPr/>
          <p:nvPr/>
        </p:nvSpPr>
        <p:spPr>
          <a:xfrm>
            <a:off x="6126480" y="4142232"/>
            <a:ext cx="402336" cy="365760"/>
          </a:xfrm>
          <a:prstGeom prst="roundRect">
            <a:avLst>
              <a:gd name="adj" fmla="val 12500"/>
            </a:avLst>
          </a:prstGeom>
          <a:solidFill>
            <a:srgbClr val="1F4573"/>
          </a:solidFill>
          <a:ln/>
        </p:spPr>
      </p:sp>
      <p:sp>
        <p:nvSpPr>
          <p:cNvPr id="86" name="Text 82"/>
          <p:cNvSpPr txBox="1"/>
          <p:nvPr/>
        </p:nvSpPr>
        <p:spPr>
          <a:xfrm>
            <a:off x="6126480" y="414223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</a:t>
            </a:r>
            <a:endParaRPr lang="en-US" sz="1500" dirty="0"/>
          </a:p>
        </p:txBody>
      </p:sp>
      <p:sp>
        <p:nvSpPr>
          <p:cNvPr id="87" name="bit"/>
          <p:cNvSpPr/>
          <p:nvPr/>
        </p:nvSpPr>
        <p:spPr>
          <a:xfrm>
            <a:off x="6583680" y="4142232"/>
            <a:ext cx="402336" cy="365760"/>
          </a:xfrm>
          <a:prstGeom prst="roundRect">
            <a:avLst>
              <a:gd name="adj" fmla="val 12500"/>
            </a:avLst>
          </a:prstGeom>
          <a:solidFill>
            <a:srgbClr val="1F4573"/>
          </a:solidFill>
          <a:ln/>
        </p:spPr>
      </p:sp>
      <p:sp>
        <p:nvSpPr>
          <p:cNvPr id="88" name="Text 84"/>
          <p:cNvSpPr txBox="1"/>
          <p:nvPr/>
        </p:nvSpPr>
        <p:spPr>
          <a:xfrm>
            <a:off x="6583680" y="414223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9" name="Text 85"/>
          <p:cNvSpPr txBox="1"/>
          <p:nvPr/>
        </p:nvSpPr>
        <p:spPr>
          <a:xfrm>
            <a:off x="4800600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BFDC"/>
                </a:solidFill>
              </a:rPr>
              <a:t>B</a:t>
            </a:r>
            <a:endParaRPr lang="en-US" sz="1400" dirty="0"/>
          </a:p>
        </p:txBody>
      </p:sp>
      <p:sp>
        <p:nvSpPr>
          <p:cNvPr id="90" name="bit"/>
          <p:cNvSpPr/>
          <p:nvPr/>
        </p:nvSpPr>
        <p:spPr>
          <a:xfrm>
            <a:off x="5212080" y="4581144"/>
            <a:ext cx="402336" cy="365760"/>
          </a:xfrm>
          <a:prstGeom prst="roundRect">
            <a:avLst>
              <a:gd name="adj" fmla="val 12500"/>
            </a:avLst>
          </a:prstGeom>
          <a:solidFill>
            <a:srgbClr val="1F4573"/>
          </a:solidFill>
          <a:ln/>
        </p:spPr>
      </p:sp>
      <p:sp>
        <p:nvSpPr>
          <p:cNvPr id="91" name="Text 87"/>
          <p:cNvSpPr txBox="1"/>
          <p:nvPr/>
        </p:nvSpPr>
        <p:spPr>
          <a:xfrm>
            <a:off x="5212080" y="458114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</a:t>
            </a:r>
            <a:endParaRPr lang="en-US" sz="1500" dirty="0"/>
          </a:p>
        </p:txBody>
      </p:sp>
      <p:sp>
        <p:nvSpPr>
          <p:cNvPr id="92" name="bit"/>
          <p:cNvSpPr/>
          <p:nvPr/>
        </p:nvSpPr>
        <p:spPr>
          <a:xfrm>
            <a:off x="5669280" y="4581144"/>
            <a:ext cx="402336" cy="365760"/>
          </a:xfrm>
          <a:prstGeom prst="roundRect">
            <a:avLst>
              <a:gd name="adj" fmla="val 12500"/>
            </a:avLst>
          </a:prstGeom>
          <a:solidFill>
            <a:srgbClr val="1F4573"/>
          </a:solidFill>
          <a:ln/>
        </p:spPr>
      </p:sp>
      <p:sp>
        <p:nvSpPr>
          <p:cNvPr id="93" name="Text 89"/>
          <p:cNvSpPr txBox="1"/>
          <p:nvPr/>
        </p:nvSpPr>
        <p:spPr>
          <a:xfrm>
            <a:off x="5669280" y="458114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</a:t>
            </a:r>
            <a:endParaRPr lang="en-US" sz="1500" dirty="0"/>
          </a:p>
        </p:txBody>
      </p:sp>
      <p:sp>
        <p:nvSpPr>
          <p:cNvPr id="94" name="bit"/>
          <p:cNvSpPr/>
          <p:nvPr/>
        </p:nvSpPr>
        <p:spPr>
          <a:xfrm>
            <a:off x="6126480" y="4581144"/>
            <a:ext cx="402336" cy="365760"/>
          </a:xfrm>
          <a:prstGeom prst="roundRect">
            <a:avLst>
              <a:gd name="adj" fmla="val 12500"/>
            </a:avLst>
          </a:prstGeom>
          <a:solidFill>
            <a:srgbClr val="1F4573"/>
          </a:solidFill>
          <a:ln/>
        </p:spPr>
      </p:sp>
      <p:sp>
        <p:nvSpPr>
          <p:cNvPr id="95" name="Text 91"/>
          <p:cNvSpPr txBox="1"/>
          <p:nvPr/>
        </p:nvSpPr>
        <p:spPr>
          <a:xfrm>
            <a:off x="6126480" y="458114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96" name="bit"/>
          <p:cNvSpPr/>
          <p:nvPr/>
        </p:nvSpPr>
        <p:spPr>
          <a:xfrm>
            <a:off x="6583680" y="4581144"/>
            <a:ext cx="402336" cy="365760"/>
          </a:xfrm>
          <a:prstGeom prst="roundRect">
            <a:avLst>
              <a:gd name="adj" fmla="val 12500"/>
            </a:avLst>
          </a:prstGeom>
          <a:solidFill>
            <a:srgbClr val="1F4573"/>
          </a:solidFill>
          <a:ln/>
        </p:spPr>
      </p:sp>
      <p:sp>
        <p:nvSpPr>
          <p:cNvPr id="97" name="Text 93"/>
          <p:cNvSpPr txBox="1"/>
          <p:nvPr/>
        </p:nvSpPr>
        <p:spPr>
          <a:xfrm>
            <a:off x="6583680" y="458114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98" name="Shape 94"/>
          <p:cNvSpPr/>
          <p:nvPr/>
        </p:nvSpPr>
        <p:spPr>
          <a:xfrm>
            <a:off x="4800600" y="5038344"/>
            <a:ext cx="3154680" cy="0"/>
          </a:xfrm>
          <a:prstGeom prst="line">
            <a:avLst/>
          </a:prstGeom>
          <a:noFill/>
          <a:ln w="12700">
            <a:solidFill>
              <a:srgbClr val="2B5C94"/>
            </a:solidFill>
            <a:prstDash val="solid"/>
          </a:ln>
        </p:spPr>
      </p:sp>
      <p:sp>
        <p:nvSpPr>
          <p:cNvPr id="99" name="Text 95"/>
          <p:cNvSpPr txBox="1"/>
          <p:nvPr/>
        </p:nvSpPr>
        <p:spPr>
          <a:xfrm>
            <a:off x="4800600" y="5111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R</a:t>
            </a:r>
            <a:endParaRPr lang="en-US" sz="1400" dirty="0"/>
          </a:p>
        </p:txBody>
      </p:sp>
      <p:sp>
        <p:nvSpPr>
          <p:cNvPr id="100" name="bit"/>
          <p:cNvSpPr/>
          <p:nvPr/>
        </p:nvSpPr>
        <p:spPr>
          <a:xfrm>
            <a:off x="5212080" y="5111496"/>
            <a:ext cx="402336" cy="365760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/>
        </p:spPr>
      </p:sp>
      <p:sp>
        <p:nvSpPr>
          <p:cNvPr id="101" name="Text 97"/>
          <p:cNvSpPr txBox="1"/>
          <p:nvPr/>
        </p:nvSpPr>
        <p:spPr>
          <a:xfrm>
            <a:off x="5212080" y="511149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A33"/>
                </a:solidFill>
              </a:rPr>
              <a:t>0</a:t>
            </a:r>
            <a:endParaRPr lang="en-US" sz="1500" dirty="0"/>
          </a:p>
        </p:txBody>
      </p:sp>
      <p:sp>
        <p:nvSpPr>
          <p:cNvPr id="102" name="bit"/>
          <p:cNvSpPr/>
          <p:nvPr/>
        </p:nvSpPr>
        <p:spPr>
          <a:xfrm>
            <a:off x="5669280" y="5111496"/>
            <a:ext cx="402336" cy="365760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/>
        </p:spPr>
      </p:sp>
      <p:sp>
        <p:nvSpPr>
          <p:cNvPr id="103" name="Text 99"/>
          <p:cNvSpPr txBox="1"/>
          <p:nvPr/>
        </p:nvSpPr>
        <p:spPr>
          <a:xfrm>
            <a:off x="5669280" y="511149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A33"/>
                </a:solidFill>
              </a:rPr>
              <a:t>1</a:t>
            </a:r>
            <a:endParaRPr lang="en-US" sz="1500" dirty="0"/>
          </a:p>
        </p:txBody>
      </p:sp>
      <p:sp>
        <p:nvSpPr>
          <p:cNvPr id="104" name="bit"/>
          <p:cNvSpPr/>
          <p:nvPr/>
        </p:nvSpPr>
        <p:spPr>
          <a:xfrm>
            <a:off x="6126480" y="5111496"/>
            <a:ext cx="402336" cy="365760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/>
        </p:spPr>
      </p:sp>
      <p:sp>
        <p:nvSpPr>
          <p:cNvPr id="105" name="Text 101"/>
          <p:cNvSpPr txBox="1"/>
          <p:nvPr/>
        </p:nvSpPr>
        <p:spPr>
          <a:xfrm>
            <a:off x="6126480" y="511149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A33"/>
                </a:solidFill>
              </a:rPr>
              <a:t>1</a:t>
            </a:r>
            <a:endParaRPr lang="en-US" sz="1500" dirty="0"/>
          </a:p>
        </p:txBody>
      </p:sp>
      <p:sp>
        <p:nvSpPr>
          <p:cNvPr id="106" name="bit"/>
          <p:cNvSpPr/>
          <p:nvPr/>
        </p:nvSpPr>
        <p:spPr>
          <a:xfrm>
            <a:off x="6583680" y="5111496"/>
            <a:ext cx="402336" cy="365760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/>
        </p:spPr>
      </p:sp>
      <p:sp>
        <p:nvSpPr>
          <p:cNvPr id="107" name="Text 103"/>
          <p:cNvSpPr txBox="1"/>
          <p:nvPr/>
        </p:nvSpPr>
        <p:spPr>
          <a:xfrm>
            <a:off x="6583680" y="511149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A33"/>
                </a:solidFill>
              </a:rPr>
              <a:t>0</a:t>
            </a:r>
            <a:endParaRPr lang="en-US" sz="1500" dirty="0"/>
          </a:p>
        </p:txBody>
      </p:sp>
      <p:sp>
        <p:nvSpPr>
          <p:cNvPr id="108" name="Text 104"/>
          <p:cNvSpPr txBox="1"/>
          <p:nvPr/>
        </p:nvSpPr>
        <p:spPr>
          <a:xfrm>
            <a:off x="7086600" y="414223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9 − 3 = 6</a:t>
            </a:r>
            <a:endParaRPr lang="en-US" sz="1150" dirty="0"/>
          </a:p>
        </p:txBody>
      </p:sp>
      <p:sp>
        <p:nvSpPr>
          <p:cNvPr id="109" name="Text 105"/>
          <p:cNvSpPr txBox="1"/>
          <p:nvPr/>
        </p:nvSpPr>
        <p:spPr>
          <a:xfrm>
            <a:off x="7086600" y="509320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FDC"/>
                </a:solidFill>
              </a:rPr>
              <a:t>No borrow</a:t>
            </a:r>
            <a:endParaRPr lang="en-US" sz="1050" dirty="0"/>
          </a:p>
        </p:txBody>
      </p:sp>
      <p:sp>
        <p:nvSpPr>
          <p:cNvPr id="110" name="Case 4"/>
          <p:cNvSpPr/>
          <p:nvPr/>
        </p:nvSpPr>
        <p:spPr>
          <a:xfrm>
            <a:off x="8229600" y="361188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0E2A4D"/>
          </a:solidFill>
          <a:ln w="12700">
            <a:solidFill>
              <a:srgbClr val="1F4573"/>
            </a:solidFill>
            <a:prstDash val="solid"/>
          </a:ln>
        </p:spPr>
      </p:sp>
      <p:sp>
        <p:nvSpPr>
          <p:cNvPr id="111" name="Case head 4"/>
          <p:cNvSpPr/>
          <p:nvPr/>
        </p:nvSpPr>
        <p:spPr>
          <a:xfrm>
            <a:off x="8229600" y="3611880"/>
            <a:ext cx="3429000" cy="411480"/>
          </a:xfrm>
          <a:prstGeom prst="roundRect">
            <a:avLst>
              <a:gd name="adj" fmla="val 22222"/>
            </a:avLst>
          </a:prstGeom>
          <a:solidFill>
            <a:schemeClr val="accent5"/>
          </a:solidFill>
          <a:ln/>
        </p:spPr>
      </p:sp>
      <p:sp>
        <p:nvSpPr>
          <p:cNvPr id="112" name="Text 108"/>
          <p:cNvSpPr txBox="1"/>
          <p:nvPr/>
        </p:nvSpPr>
        <p:spPr>
          <a:xfrm>
            <a:off x="8366760" y="3611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A33"/>
                </a:solidFill>
              </a:rPr>
              <a:t>SUB = 1   ·   SUB</a:t>
            </a:r>
            <a:endParaRPr lang="en-US" sz="1300" dirty="0"/>
          </a:p>
        </p:txBody>
      </p:sp>
      <p:sp>
        <p:nvSpPr>
          <p:cNvPr id="113" name="Text 109"/>
          <p:cNvSpPr txBox="1"/>
          <p:nvPr/>
        </p:nvSpPr>
        <p:spPr>
          <a:xfrm>
            <a:off x="10332720" y="36118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71A33"/>
                </a:solidFill>
              </a:rPr>
              <a:t>FLAG = 1</a:t>
            </a:r>
            <a:endParaRPr lang="en-US" sz="1300" dirty="0"/>
          </a:p>
        </p:txBody>
      </p:sp>
      <p:sp>
        <p:nvSpPr>
          <p:cNvPr id="114" name="Text 110"/>
          <p:cNvSpPr txBox="1"/>
          <p:nvPr/>
        </p:nvSpPr>
        <p:spPr>
          <a:xfrm>
            <a:off x="8366760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BFDC"/>
                </a:solidFill>
              </a:rPr>
              <a:t>A</a:t>
            </a:r>
            <a:endParaRPr lang="en-US" sz="1400" dirty="0"/>
          </a:p>
        </p:txBody>
      </p:sp>
      <p:sp>
        <p:nvSpPr>
          <p:cNvPr id="115" name="bit"/>
          <p:cNvSpPr/>
          <p:nvPr/>
        </p:nvSpPr>
        <p:spPr>
          <a:xfrm>
            <a:off x="8778240" y="4142232"/>
            <a:ext cx="402336" cy="365760"/>
          </a:xfrm>
          <a:prstGeom prst="roundRect">
            <a:avLst>
              <a:gd name="adj" fmla="val 12500"/>
            </a:avLst>
          </a:prstGeom>
          <a:solidFill>
            <a:srgbClr val="1F4573"/>
          </a:solidFill>
          <a:ln/>
        </p:spPr>
      </p:sp>
      <p:sp>
        <p:nvSpPr>
          <p:cNvPr id="116" name="Text 112"/>
          <p:cNvSpPr txBox="1"/>
          <p:nvPr/>
        </p:nvSpPr>
        <p:spPr>
          <a:xfrm>
            <a:off x="8778240" y="414223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</a:t>
            </a:r>
            <a:endParaRPr lang="en-US" sz="1500" dirty="0"/>
          </a:p>
        </p:txBody>
      </p:sp>
      <p:sp>
        <p:nvSpPr>
          <p:cNvPr id="117" name="bit"/>
          <p:cNvSpPr/>
          <p:nvPr/>
        </p:nvSpPr>
        <p:spPr>
          <a:xfrm>
            <a:off x="9235440" y="4142232"/>
            <a:ext cx="402336" cy="365760"/>
          </a:xfrm>
          <a:prstGeom prst="roundRect">
            <a:avLst>
              <a:gd name="adj" fmla="val 12500"/>
            </a:avLst>
          </a:prstGeom>
          <a:solidFill>
            <a:srgbClr val="1F4573"/>
          </a:solidFill>
          <a:ln/>
        </p:spPr>
      </p:sp>
      <p:sp>
        <p:nvSpPr>
          <p:cNvPr id="118" name="Text 114"/>
          <p:cNvSpPr txBox="1"/>
          <p:nvPr/>
        </p:nvSpPr>
        <p:spPr>
          <a:xfrm>
            <a:off x="9235440" y="414223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</a:t>
            </a:r>
            <a:endParaRPr lang="en-US" sz="1500" dirty="0"/>
          </a:p>
        </p:txBody>
      </p:sp>
      <p:sp>
        <p:nvSpPr>
          <p:cNvPr id="119" name="bit"/>
          <p:cNvSpPr/>
          <p:nvPr/>
        </p:nvSpPr>
        <p:spPr>
          <a:xfrm>
            <a:off x="9692640" y="4142232"/>
            <a:ext cx="402336" cy="365760"/>
          </a:xfrm>
          <a:prstGeom prst="roundRect">
            <a:avLst>
              <a:gd name="adj" fmla="val 12500"/>
            </a:avLst>
          </a:prstGeom>
          <a:solidFill>
            <a:srgbClr val="1F4573"/>
          </a:solidFill>
          <a:ln/>
        </p:spPr>
      </p:sp>
      <p:sp>
        <p:nvSpPr>
          <p:cNvPr id="120" name="Text 116"/>
          <p:cNvSpPr txBox="1"/>
          <p:nvPr/>
        </p:nvSpPr>
        <p:spPr>
          <a:xfrm>
            <a:off x="9692640" y="414223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1" name="bit"/>
          <p:cNvSpPr/>
          <p:nvPr/>
        </p:nvSpPr>
        <p:spPr>
          <a:xfrm>
            <a:off x="10149840" y="4142232"/>
            <a:ext cx="402336" cy="365760"/>
          </a:xfrm>
          <a:prstGeom prst="roundRect">
            <a:avLst>
              <a:gd name="adj" fmla="val 12500"/>
            </a:avLst>
          </a:prstGeom>
          <a:solidFill>
            <a:srgbClr val="1F4573"/>
          </a:solidFill>
          <a:ln/>
        </p:spPr>
      </p:sp>
      <p:sp>
        <p:nvSpPr>
          <p:cNvPr id="122" name="Text 118"/>
          <p:cNvSpPr txBox="1"/>
          <p:nvPr/>
        </p:nvSpPr>
        <p:spPr>
          <a:xfrm>
            <a:off x="10149840" y="414223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3" name="Text 119"/>
          <p:cNvSpPr txBox="1"/>
          <p:nvPr/>
        </p:nvSpPr>
        <p:spPr>
          <a:xfrm>
            <a:off x="8366760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BFDC"/>
                </a:solidFill>
              </a:rPr>
              <a:t>B</a:t>
            </a:r>
            <a:endParaRPr lang="en-US" sz="1400" dirty="0"/>
          </a:p>
        </p:txBody>
      </p:sp>
      <p:sp>
        <p:nvSpPr>
          <p:cNvPr id="124" name="bit"/>
          <p:cNvSpPr/>
          <p:nvPr/>
        </p:nvSpPr>
        <p:spPr>
          <a:xfrm>
            <a:off x="8778240" y="4581144"/>
            <a:ext cx="402336" cy="365760"/>
          </a:xfrm>
          <a:prstGeom prst="roundRect">
            <a:avLst>
              <a:gd name="adj" fmla="val 12500"/>
            </a:avLst>
          </a:prstGeom>
          <a:solidFill>
            <a:srgbClr val="1F4573"/>
          </a:solidFill>
          <a:ln/>
        </p:spPr>
      </p:sp>
      <p:sp>
        <p:nvSpPr>
          <p:cNvPr id="125" name="Text 121"/>
          <p:cNvSpPr txBox="1"/>
          <p:nvPr/>
        </p:nvSpPr>
        <p:spPr>
          <a:xfrm>
            <a:off x="8778240" y="458114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</a:t>
            </a:r>
            <a:endParaRPr lang="en-US" sz="1500" dirty="0"/>
          </a:p>
        </p:txBody>
      </p:sp>
      <p:sp>
        <p:nvSpPr>
          <p:cNvPr id="126" name="bit"/>
          <p:cNvSpPr/>
          <p:nvPr/>
        </p:nvSpPr>
        <p:spPr>
          <a:xfrm>
            <a:off x="9235440" y="4581144"/>
            <a:ext cx="402336" cy="365760"/>
          </a:xfrm>
          <a:prstGeom prst="roundRect">
            <a:avLst>
              <a:gd name="adj" fmla="val 12500"/>
            </a:avLst>
          </a:prstGeom>
          <a:solidFill>
            <a:srgbClr val="1F4573"/>
          </a:solidFill>
          <a:ln/>
        </p:spPr>
      </p:sp>
      <p:sp>
        <p:nvSpPr>
          <p:cNvPr id="127" name="Text 123"/>
          <p:cNvSpPr txBox="1"/>
          <p:nvPr/>
        </p:nvSpPr>
        <p:spPr>
          <a:xfrm>
            <a:off x="9235440" y="458114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8" name="bit"/>
          <p:cNvSpPr/>
          <p:nvPr/>
        </p:nvSpPr>
        <p:spPr>
          <a:xfrm>
            <a:off x="9692640" y="4581144"/>
            <a:ext cx="402336" cy="365760"/>
          </a:xfrm>
          <a:prstGeom prst="roundRect">
            <a:avLst>
              <a:gd name="adj" fmla="val 12500"/>
            </a:avLst>
          </a:prstGeom>
          <a:solidFill>
            <a:srgbClr val="1F4573"/>
          </a:solidFill>
          <a:ln/>
        </p:spPr>
      </p:sp>
      <p:sp>
        <p:nvSpPr>
          <p:cNvPr id="129" name="Text 125"/>
          <p:cNvSpPr txBox="1"/>
          <p:nvPr/>
        </p:nvSpPr>
        <p:spPr>
          <a:xfrm>
            <a:off x="9692640" y="458114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</a:t>
            </a:r>
            <a:endParaRPr lang="en-US" sz="1500" dirty="0"/>
          </a:p>
        </p:txBody>
      </p:sp>
      <p:sp>
        <p:nvSpPr>
          <p:cNvPr id="130" name="bit"/>
          <p:cNvSpPr/>
          <p:nvPr/>
        </p:nvSpPr>
        <p:spPr>
          <a:xfrm>
            <a:off x="10149840" y="4581144"/>
            <a:ext cx="402336" cy="365760"/>
          </a:xfrm>
          <a:prstGeom prst="roundRect">
            <a:avLst>
              <a:gd name="adj" fmla="val 12500"/>
            </a:avLst>
          </a:prstGeom>
          <a:solidFill>
            <a:srgbClr val="1F4573"/>
          </a:solidFill>
          <a:ln/>
        </p:spPr>
      </p:sp>
      <p:sp>
        <p:nvSpPr>
          <p:cNvPr id="131" name="Text 127"/>
          <p:cNvSpPr txBox="1"/>
          <p:nvPr/>
        </p:nvSpPr>
        <p:spPr>
          <a:xfrm>
            <a:off x="10149840" y="458114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32" name="Shape 128"/>
          <p:cNvSpPr/>
          <p:nvPr/>
        </p:nvSpPr>
        <p:spPr>
          <a:xfrm>
            <a:off x="8366760" y="5038344"/>
            <a:ext cx="3154680" cy="0"/>
          </a:xfrm>
          <a:prstGeom prst="line">
            <a:avLst/>
          </a:prstGeom>
          <a:noFill/>
          <a:ln w="12700">
            <a:solidFill>
              <a:srgbClr val="2B5C94"/>
            </a:solidFill>
            <a:prstDash val="solid"/>
          </a:ln>
        </p:spPr>
      </p:sp>
      <p:sp>
        <p:nvSpPr>
          <p:cNvPr id="133" name="Text 129"/>
          <p:cNvSpPr txBox="1"/>
          <p:nvPr/>
        </p:nvSpPr>
        <p:spPr>
          <a:xfrm>
            <a:off x="8366760" y="5111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R</a:t>
            </a:r>
            <a:endParaRPr lang="en-US" sz="1400" dirty="0"/>
          </a:p>
        </p:txBody>
      </p:sp>
      <p:sp>
        <p:nvSpPr>
          <p:cNvPr id="134" name="bit"/>
          <p:cNvSpPr/>
          <p:nvPr/>
        </p:nvSpPr>
        <p:spPr>
          <a:xfrm>
            <a:off x="8778240" y="5111496"/>
            <a:ext cx="402336" cy="365760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/>
        </p:spPr>
      </p:sp>
      <p:sp>
        <p:nvSpPr>
          <p:cNvPr id="135" name="Text 131"/>
          <p:cNvSpPr txBox="1"/>
          <p:nvPr/>
        </p:nvSpPr>
        <p:spPr>
          <a:xfrm>
            <a:off x="8778240" y="511149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A33"/>
                </a:solidFill>
              </a:rPr>
              <a:t>1</a:t>
            </a:r>
            <a:endParaRPr lang="en-US" sz="1500" dirty="0"/>
          </a:p>
        </p:txBody>
      </p:sp>
      <p:sp>
        <p:nvSpPr>
          <p:cNvPr id="136" name="bit"/>
          <p:cNvSpPr/>
          <p:nvPr/>
        </p:nvSpPr>
        <p:spPr>
          <a:xfrm>
            <a:off x="9235440" y="5111496"/>
            <a:ext cx="402336" cy="365760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/>
        </p:spPr>
      </p:sp>
      <p:sp>
        <p:nvSpPr>
          <p:cNvPr id="137" name="Text 133"/>
          <p:cNvSpPr txBox="1"/>
          <p:nvPr/>
        </p:nvSpPr>
        <p:spPr>
          <a:xfrm>
            <a:off x="9235440" y="511149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A33"/>
                </a:solidFill>
              </a:rPr>
              <a:t>1</a:t>
            </a:r>
            <a:endParaRPr lang="en-US" sz="1500" dirty="0"/>
          </a:p>
        </p:txBody>
      </p:sp>
      <p:sp>
        <p:nvSpPr>
          <p:cNvPr id="138" name="bit"/>
          <p:cNvSpPr/>
          <p:nvPr/>
        </p:nvSpPr>
        <p:spPr>
          <a:xfrm>
            <a:off x="9692640" y="5111496"/>
            <a:ext cx="402336" cy="365760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/>
        </p:spPr>
      </p:sp>
      <p:sp>
        <p:nvSpPr>
          <p:cNvPr id="139" name="Text 135"/>
          <p:cNvSpPr txBox="1"/>
          <p:nvPr/>
        </p:nvSpPr>
        <p:spPr>
          <a:xfrm>
            <a:off x="9692640" y="511149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A33"/>
                </a:solidFill>
              </a:rPr>
              <a:t>1</a:t>
            </a:r>
            <a:endParaRPr lang="en-US" sz="1500" dirty="0"/>
          </a:p>
        </p:txBody>
      </p:sp>
      <p:sp>
        <p:nvSpPr>
          <p:cNvPr id="140" name="bit"/>
          <p:cNvSpPr/>
          <p:nvPr/>
        </p:nvSpPr>
        <p:spPr>
          <a:xfrm>
            <a:off x="10149840" y="5111496"/>
            <a:ext cx="402336" cy="365760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/>
        </p:spPr>
      </p:sp>
      <p:sp>
        <p:nvSpPr>
          <p:cNvPr id="141" name="Text 137"/>
          <p:cNvSpPr txBox="1"/>
          <p:nvPr/>
        </p:nvSpPr>
        <p:spPr>
          <a:xfrm>
            <a:off x="10149840" y="511149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A33"/>
                </a:solidFill>
              </a:rPr>
              <a:t>0</a:t>
            </a:r>
            <a:endParaRPr lang="en-US" sz="1500" dirty="0"/>
          </a:p>
        </p:txBody>
      </p:sp>
      <p:sp>
        <p:nvSpPr>
          <p:cNvPr id="142" name="Text 138"/>
          <p:cNvSpPr txBox="1"/>
          <p:nvPr/>
        </p:nvSpPr>
        <p:spPr>
          <a:xfrm>
            <a:off x="10652760" y="414223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3 − 5 = −2</a:t>
            </a:r>
            <a:endParaRPr lang="en-US" sz="1150" dirty="0"/>
          </a:p>
        </p:txBody>
      </p:sp>
      <p:sp>
        <p:nvSpPr>
          <p:cNvPr id="143" name="Text 139"/>
          <p:cNvSpPr txBox="1"/>
          <p:nvPr/>
        </p:nvSpPr>
        <p:spPr>
          <a:xfrm>
            <a:off x="10652760" y="509320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FDC"/>
                </a:solidFill>
              </a:rPr>
              <a:t>Borrow (−2 → 14)</a:t>
            </a:r>
            <a:endParaRPr lang="en-US" sz="1050" dirty="0"/>
          </a:p>
        </p:txBody>
      </p:sp>
      <p:sp>
        <p:nvSpPr>
          <p:cNvPr id="144" name="Verified bar"/>
          <p:cNvSpPr/>
          <p:nvPr/>
        </p:nvSpPr>
        <p:spPr>
          <a:xfrm>
            <a:off x="4663440" y="5943600"/>
            <a:ext cx="6976872" cy="384048"/>
          </a:xfrm>
          <a:prstGeom prst="roundRect">
            <a:avLst>
              <a:gd name="adj" fmla="val 19048"/>
            </a:avLst>
          </a:prstGeom>
          <a:solidFill>
            <a:srgbClr val="0B2545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45" name="Text 141"/>
          <p:cNvSpPr txBox="1"/>
          <p:nvPr/>
        </p:nvSpPr>
        <p:spPr>
          <a:xfrm>
            <a:off x="4663440" y="5943600"/>
            <a:ext cx="6976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accent4"/>
                </a:solidFill>
              </a:rPr>
              <a:t>All 512 input combinations (16 × 16 × 2 modes) passed RESULT and flag checks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9C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548640" y="27432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 and Applications</a:t>
            </a:r>
            <a:endParaRPr lang="en-US" sz="3000" dirty="0"/>
          </a:p>
        </p:txBody>
      </p:sp>
      <p:sp>
        <p:nvSpPr>
          <p:cNvPr id="3" name="Col 1"/>
          <p:cNvSpPr/>
          <p:nvPr/>
        </p:nvSpPr>
        <p:spPr>
          <a:xfrm>
            <a:off x="548640" y="1280160"/>
            <a:ext cx="3611880" cy="3977640"/>
          </a:xfrm>
          <a:prstGeom prst="roundRect">
            <a:avLst>
              <a:gd name="adj" fmla="val 2532"/>
            </a:avLst>
          </a:prstGeom>
          <a:solidFill>
            <a:srgbClr val="0E2A4D"/>
          </a:solidFill>
          <a:ln w="12700">
            <a:solidFill>
              <a:srgbClr val="1F4573"/>
            </a:solidFill>
            <a:prstDash val="solid"/>
          </a:ln>
        </p:spPr>
      </p:sp>
      <p:sp>
        <p:nvSpPr>
          <p:cNvPr id="4" name="Col bar 1"/>
          <p:cNvSpPr/>
          <p:nvPr/>
        </p:nvSpPr>
        <p:spPr>
          <a:xfrm>
            <a:off x="557784" y="1289304"/>
            <a:ext cx="3593592" cy="82296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OUTCOME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31089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3EEFA"/>
                </a:solidFill>
              </a:rPr>
              <a:t>One adder performs both A + B and A − B</a:t>
            </a:r>
            <a:endParaRPr lang="en-US" sz="16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3EEFA"/>
                </a:solidFill>
              </a:rPr>
              <a:t>A single SUB input controls inversion, carry-in and flag meaning</a:t>
            </a:r>
            <a:endParaRPr lang="en-US" sz="16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3EEFA"/>
                </a:solidFill>
              </a:rPr>
              <a:t>Demonstrates two’s complement and carry/borrow visually</a:t>
            </a:r>
            <a:endParaRPr lang="en-US" sz="16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3EEFA"/>
                </a:solidFill>
              </a:rPr>
              <a:t>All 512 input combinations verified in Logisim</a:t>
            </a:r>
            <a:endParaRPr lang="en-US" sz="1600" dirty="0"/>
          </a:p>
        </p:txBody>
      </p:sp>
      <p:sp>
        <p:nvSpPr>
          <p:cNvPr id="7" name="Col 2"/>
          <p:cNvSpPr/>
          <p:nvPr/>
        </p:nvSpPr>
        <p:spPr>
          <a:xfrm>
            <a:off x="4297680" y="1280160"/>
            <a:ext cx="3611880" cy="3977640"/>
          </a:xfrm>
          <a:prstGeom prst="roundRect">
            <a:avLst>
              <a:gd name="adj" fmla="val 2532"/>
            </a:avLst>
          </a:prstGeom>
          <a:solidFill>
            <a:srgbClr val="0E2A4D"/>
          </a:solidFill>
          <a:ln w="12700">
            <a:solidFill>
              <a:srgbClr val="1F4573"/>
            </a:solidFill>
            <a:prstDash val="solid"/>
          </a:ln>
        </p:spPr>
      </p:sp>
      <p:sp>
        <p:nvSpPr>
          <p:cNvPr id="8" name="Col bar 2"/>
          <p:cNvSpPr/>
          <p:nvPr/>
        </p:nvSpPr>
        <p:spPr>
          <a:xfrm>
            <a:off x="4306824" y="1289304"/>
            <a:ext cx="3593592" cy="822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APPLICATIONS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965960"/>
            <a:ext cx="31089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3EEFA"/>
                </a:solidFill>
              </a:rPr>
              <a:t>ALU inside CPUs and microcontrollers</a:t>
            </a:r>
            <a:endParaRPr lang="en-US" sz="16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3EEFA"/>
                </a:solidFill>
              </a:rPr>
              <a:t>Calculators and embedded controllers</a:t>
            </a:r>
            <a:endParaRPr lang="en-US" sz="16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3EEFA"/>
                </a:solidFill>
              </a:rPr>
              <a:t>Address and counter calculation in processors</a:t>
            </a:r>
            <a:endParaRPr lang="en-US" sz="16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3EEFA"/>
                </a:solidFill>
              </a:rPr>
              <a:t>Teaching tool for digital logic and computer architecture</a:t>
            </a:r>
            <a:endParaRPr lang="en-US" sz="1600" dirty="0"/>
          </a:p>
        </p:txBody>
      </p:sp>
      <p:sp>
        <p:nvSpPr>
          <p:cNvPr id="11" name="Col 3"/>
          <p:cNvSpPr/>
          <p:nvPr/>
        </p:nvSpPr>
        <p:spPr>
          <a:xfrm>
            <a:off x="8046720" y="1280160"/>
            <a:ext cx="3611880" cy="3977640"/>
          </a:xfrm>
          <a:prstGeom prst="roundRect">
            <a:avLst>
              <a:gd name="adj" fmla="val 2532"/>
            </a:avLst>
          </a:prstGeom>
          <a:solidFill>
            <a:srgbClr val="0E2A4D"/>
          </a:solidFill>
          <a:ln w="12700">
            <a:solidFill>
              <a:srgbClr val="1F4573"/>
            </a:solidFill>
            <a:prstDash val="solid"/>
          </a:ln>
        </p:spPr>
      </p:sp>
      <p:sp>
        <p:nvSpPr>
          <p:cNvPr id="12" name="Col bar 3"/>
          <p:cNvSpPr/>
          <p:nvPr/>
        </p:nvSpPr>
        <p:spPr>
          <a:xfrm>
            <a:off x="8055864" y="1289304"/>
            <a:ext cx="3593592" cy="822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2104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IMPROVEMENTS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1965960"/>
            <a:ext cx="31089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3EEFA"/>
                </a:solidFill>
              </a:rPr>
              <a:t>Signed-overflow detection</a:t>
            </a:r>
            <a:endParaRPr lang="en-US" sz="16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3EEFA"/>
                </a:solidFill>
              </a:rPr>
              <a:t>Wider operands: 8, 16 or 32 bits</a:t>
            </a:r>
            <a:endParaRPr lang="en-US" sz="16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3EEFA"/>
                </a:solidFill>
              </a:rPr>
              <a:t>Add AND, OR, XOR to form a complete ALU</a:t>
            </a:r>
            <a:endParaRPr lang="en-US" sz="16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3EEFA"/>
                </a:solidFill>
              </a:rPr>
              <a:t>Seven-segment display and FPGA hardware build</a:t>
            </a:r>
            <a:endParaRPr lang="en-US" sz="1600" dirty="0"/>
          </a:p>
        </p:txBody>
      </p:sp>
      <p:sp>
        <p:nvSpPr>
          <p:cNvPr id="15" name="Takeaway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0B2545"/>
          </a:solidFill>
          <a:ln w="12700">
            <a:solidFill>
              <a:srgbClr val="2B5C9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440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Key takeaway: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one XOR row and one carry-in turn a plain adder into an adder–subtractor, the same idea used inside real processors.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9C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ogicBlue">
  <a:themeElements>
    <a:clrScheme name="LogicBlue">
      <a:dk1>
        <a:srgbClr val="071A33"/>
      </a:dk1>
      <a:lt1>
        <a:srgbClr val="FFFFFF"/>
      </a:lt1>
      <a:dk2>
        <a:srgbClr val="0E2A4D"/>
      </a:dk2>
      <a:lt2>
        <a:srgbClr val="E8F1FB"/>
      </a:lt2>
      <a:accent1>
        <a:srgbClr val="22D3EE"/>
      </a:accent1>
      <a:accent2>
        <a:srgbClr val="3B82F6"/>
      </a:accent2>
      <a:accent3>
        <a:srgbClr val="F59E0B"/>
      </a:accent3>
      <a:accent4>
        <a:srgbClr val="34D399"/>
      </a:accent4>
      <a:accent5>
        <a:srgbClr val="8B5CF6"/>
      </a:accent5>
      <a:accent6>
        <a:srgbClr val="F87171"/>
      </a:accent6>
      <a:hlink>
        <a:srgbClr val="22D3EE"/>
      </a:hlink>
      <a:folHlink>
        <a:srgbClr val="8FA9C9"/>
      </a:folHlink>
    </a:clrScheme>
    <a:fontScheme name="LogicBlu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4-Bit Binary Arithmetic Calculator</dc:title>
  <dc:subject>PptxGenJS Presentation</dc:subject>
  <dc:creator>Batch 1, KL University</dc:creator>
  <cp:lastModifiedBy>Batch 1, KL University</cp:lastModifiedBy>
  <cp:revision>1</cp:revision>
  <dcterms:created xsi:type="dcterms:W3CDTF">2026-10-15T05:33:49Z</dcterms:created>
  <dcterms:modified xsi:type="dcterms:W3CDTF">2026-10-15T05:33:49Z</dcterms:modified>
</cp:coreProperties>
</file>