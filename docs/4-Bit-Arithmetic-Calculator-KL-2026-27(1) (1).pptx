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fba14f06c14458f" Type="http://schemas.openxmlformats.org/officeDocument/2006/relationships/extended-properties" Target="docProps/app.xml"/><Relationship Id="R20908427b57945e2" Type="http://schemas.openxmlformats.org/officeDocument/2006/relationships/officeDocument" Target="ppt/presentation.xml"/><Relationship Id="R83760d09d450467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98eb9b6beb4bf9"/>
  </p:sldMasterIdLst>
  <p:notesMasterIdLst>
    <p:notesMasterId xmlns:r="http://schemas.openxmlformats.org/officeDocument/2006/relationships" r:id="R39e1ba18f141462e"/>
  </p:notesMasterIdLst>
  <p:sldIdLst>
    <p:sldId xmlns:r="http://schemas.openxmlformats.org/officeDocument/2006/relationships" id="256" r:id="R6eb38d9ff68f4d29"/>
    <p:sldId xmlns:r="http://schemas.openxmlformats.org/officeDocument/2006/relationships" id="257" r:id="R849aed69989f4da9"/>
    <p:sldId xmlns:r="http://schemas.openxmlformats.org/officeDocument/2006/relationships" id="258" r:id="Rd5f9b35544474603"/>
    <p:sldId xmlns:r="http://schemas.openxmlformats.org/officeDocument/2006/relationships" id="259" r:id="R4ac9bdfbbe8f4520"/>
    <p:sldId xmlns:r="http://schemas.openxmlformats.org/officeDocument/2006/relationships" id="260" r:id="Raaaf7c9d1c9b4b90"/>
    <p:sldId xmlns:r="http://schemas.openxmlformats.org/officeDocument/2006/relationships" id="261" r:id="R5afd412bbeea4c62"/>
    <p:sldId xmlns:r="http://schemas.openxmlformats.org/officeDocument/2006/relationships" id="262" r:id="R26ba71be1a5e4b02"/>
    <p:sldId xmlns:r="http://schemas.openxmlformats.org/officeDocument/2006/relationships" id="263" r:id="R21a0a428e5db40ab"/>
    <p:sldId xmlns:r="http://schemas.openxmlformats.org/officeDocument/2006/relationships" id="264" r:id="R1d498a8ecbfa4771"/>
    <p:sldId xmlns:r="http://schemas.openxmlformats.org/officeDocument/2006/relationships" id="265" r:id="R3b2aebf958804adc"/>
    <p:sldId xmlns:r="http://schemas.openxmlformats.org/officeDocument/2006/relationships" id="266" r:id="R1df23aef26f0495e"/>
    <p:sldId xmlns:r="http://schemas.openxmlformats.org/officeDocument/2006/relationships" id="267" r:id="R5cf6231d295e4157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f51b7bb80f44bb" Type="http://schemas.openxmlformats.org/officeDocument/2006/relationships/theme" Target="theme/theme1.xml"/><Relationship Id="R1d498a8ecbfa4771" Type="http://schemas.openxmlformats.org/officeDocument/2006/relationships/slide" Target="slides/slide9.xml"/><Relationship Id="R1df23aef26f0495e" Type="http://schemas.openxmlformats.org/officeDocument/2006/relationships/slide" Target="slides/slide11.xml"/><Relationship Id="R21a0a428e5db40ab" Type="http://schemas.openxmlformats.org/officeDocument/2006/relationships/slide" Target="slides/slide8.xml"/><Relationship Id="R264f9c9481f94235" Type="http://schemas.openxmlformats.org/officeDocument/2006/relationships/tableStyles" Target="tableStyles.xml"/><Relationship Id="R26ba71be1a5e4b02" Type="http://schemas.openxmlformats.org/officeDocument/2006/relationships/slide" Target="slides/slide7.xml"/><Relationship Id="R39e1ba18f141462e" Type="http://schemas.openxmlformats.org/officeDocument/2006/relationships/notesMaster" Target="notesMasters/notesMaster1.xml"/><Relationship Id="R3b2aebf958804adc" Type="http://schemas.openxmlformats.org/officeDocument/2006/relationships/slide" Target="slides/slide10.xml"/><Relationship Id="R4ac9bdfbbe8f4520" Type="http://schemas.openxmlformats.org/officeDocument/2006/relationships/slide" Target="slides/slide4.xml"/><Relationship Id="R5afd412bbeea4c62" Type="http://schemas.openxmlformats.org/officeDocument/2006/relationships/slide" Target="slides/slide6.xml"/><Relationship Id="R5cf6231d295e4157" Type="http://schemas.openxmlformats.org/officeDocument/2006/relationships/slide" Target="slides/slide12.xml"/><Relationship Id="R6598eb9b6beb4bf9" Type="http://schemas.openxmlformats.org/officeDocument/2006/relationships/slideMaster" Target="slideMasters/slideMaster1.xml"/><Relationship Id="R6eb38d9ff68f4d29" Type="http://schemas.openxmlformats.org/officeDocument/2006/relationships/slide" Target="slides/slide1.xml"/><Relationship Id="R7771ac6989664584" Type="http://schemas.openxmlformats.org/officeDocument/2006/relationships/presProps" Target="presProps.xml"/><Relationship Id="R849aed69989f4da9" Type="http://schemas.openxmlformats.org/officeDocument/2006/relationships/slide" Target="slides/slide2.xml"/><Relationship Id="Raaaf7c9d1c9b4b90" Type="http://schemas.openxmlformats.org/officeDocument/2006/relationships/slide" Target="slides/slide5.xml"/><Relationship Id="Rd5f9b3554447460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22139e2ca60e4c8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01f73bd25cb486f" Type="http://schemas.openxmlformats.org/officeDocument/2006/relationships/slide" Target="../slides/slide1.xml"/><Relationship Id="R827130642091443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3b6d04c73f64032" Type="http://schemas.openxmlformats.org/officeDocument/2006/relationships/slide" Target="../slides/slide2.xml"/><Relationship Id="Rb323f6e7aaff448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fd5b9e1d5a244bd" Type="http://schemas.openxmlformats.org/officeDocument/2006/relationships/slide" Target="../slides/slide3.xml"/><Relationship Id="R6c8c1c396e2c4b0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187d59cd3044ea8" Type="http://schemas.openxmlformats.org/officeDocument/2006/relationships/slide" Target="../slides/slide4.xml"/><Relationship Id="Rff7db90d7ec64cc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b467bdc87f846ab" Type="http://schemas.openxmlformats.org/officeDocument/2006/relationships/slide" Target="../slides/slide5.xml"/><Relationship Id="R6974c8bed20d45b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88c6d80d26b49ed" Type="http://schemas.openxmlformats.org/officeDocument/2006/relationships/slide" Target="../slides/slide6.xml"/><Relationship Id="R4a5b8370b4d94a6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1b45c2aad114bda" Type="http://schemas.openxmlformats.org/officeDocument/2006/relationships/slide" Target="../slides/slide7.xml"/><Relationship Id="R668e38d5d979494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97c999101ce24472" Type="http://schemas.openxmlformats.org/officeDocument/2006/relationships/slide" Target="../slides/slide8.xml"/><Relationship Id="Re34cc648fde74ec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f3f63e154e04ed2" Type="http://schemas.openxmlformats.org/officeDocument/2006/relationships/notesMaster" Target="../notesMasters/notesMaster1.xml"/><Relationship Id="R91dcce9e11f7408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842c9dd06f2406f" Type="http://schemas.openxmlformats.org/officeDocument/2006/relationships/notesMaster" Target="../notesMasters/notesMaster1.xml"/><Relationship Id="Rd740b75f1c9942a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b0088cdfc4e4062" Type="http://schemas.openxmlformats.org/officeDocument/2006/relationships/notesMaster" Target="../notesMasters/notesMaster1.xml"/><Relationship Id="R517c993a116549b3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5d2d2f55b2547d1" Type="http://schemas.openxmlformats.org/officeDocument/2006/relationships/notesMaster" Target="../notesMasters/notesMaster1.xml"/><Relationship Id="Rc0e7059494e74f2f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Existing-system sources: Carl Burch, Logisim 2.7 Library Reference, Adder: https://www.cburch.com/logisim/docs/2.7/en/html/libs/arith/adder.html ; Subtractor: https://www.cburch.com/logisim/docs/2.7/en/html/libs/arith/subtractor.html ; XOR gates: https://www.cburch.com/logisim/docs/2.7/en/html/libs/gates/xor.html . Comparison of separate versus shared paths is a design analysis, not a measured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4-bit arithmetic calculator. Source: supplied presentation and verified Logisim circuit. Addition returns (A+B) modulo 16 with carry for A+B&gt;15. Subtraction returns (A-B) modulo 16 with borrow for A&lt;B. All 512 combinations were tested using the Logisim 2.7.1 simulation engine. Tables on slide 11 include the exhaustive 1-bit full-adder table and selected 4-bit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3a1438577384c9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ce40ad2f8464955" Type="http://schemas.openxmlformats.org/officeDocument/2006/relationships/slideLayout" Target="../slideLayouts/slideLayout1.xml"/><Relationship Id="Rcdb846cd299441b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e40ad2f84649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41339e38af64f01" Type="http://schemas.openxmlformats.org/officeDocument/2006/relationships/slideLayout" Target="../slideLayouts/slideLayout1.xml"/><Relationship Id="Rbe3462bdcfa24c19" Type="http://schemas.openxmlformats.org/officeDocument/2006/relationships/image" Target="../media/image.png"/><Relationship Id="Rdf6f9ee920464a7d" Type="http://schemas.openxmlformats.org/officeDocument/2006/relationships/notesSlide" Target="../notesSlides/notesSlide1.xml"/><Relationship Id="Rfe97cf807c674c72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0d6c55eeea60423e" Type="http://schemas.openxmlformats.org/officeDocument/2006/relationships/slideLayout" Target="../slideLayouts/slideLayout1.xml"/><Relationship Id="R7fea84c6c1614fbd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047edc98f2574d90" Type="http://schemas.openxmlformats.org/officeDocument/2006/relationships/slideLayout" Target="../slideLayouts/slideLayout1.xml"/><Relationship Id="R88bf8bfae97948ff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701bfd8fd9ee41c3" Type="http://schemas.openxmlformats.org/officeDocument/2006/relationships/notesSlide" Target="../notesSlides/notesSlide4.xml"/><Relationship Id="R8058863c9bfa44a0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526ed14e1a324994" Type="http://schemas.openxmlformats.org/officeDocument/2006/relationships/slideLayout" Target="../slideLayouts/slideLayout1.xml"/><Relationship Id="Re1d5bf23ff7a4824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315e212ccc614873" Type="http://schemas.openxmlformats.org/officeDocument/2006/relationships/notesSlide" Target="../notesSlides/notesSlide6.xml"/><Relationship Id="R39fc9a3a50b14047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62769abbf1184226" Type="http://schemas.openxmlformats.org/officeDocument/2006/relationships/slideLayout" Target="../slideLayouts/slideLayout1.xml"/><Relationship Id="Rc39476c45e8646d5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af216afdb7184f83" Type="http://schemas.openxmlformats.org/officeDocument/2006/relationships/slideLayout" Target="../slideLayouts/slideLayout1.xml"/><Relationship Id="Rd9984291633646c7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623e1381e20b4ec5" Type="http://schemas.openxmlformats.org/officeDocument/2006/relationships/slideLayout" Target="../slideLayouts/slideLayout1.xml"/><Relationship Id="R7da1ed39ce2a4fd9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24d63ffd50374313" Type="http://schemas.openxmlformats.org/officeDocument/2006/relationships/image" Target="../media/image3.png"/><Relationship Id="R69c23b233bd0455b" Type="http://schemas.openxmlformats.org/officeDocument/2006/relationships/notesSlide" Target="../notesSlides/notesSlide10.xml"/><Relationship Id="Rd18e8f0dee1a44bd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33051af85eeb412a" Type="http://schemas.openxmlformats.org/officeDocument/2006/relationships/slideLayout" Target="../slideLayouts/slideLayout1.xml"/><Relationship Id="R795caecebc7b4c5b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69b7d7517ea04e20" Type="http://schemas.openxmlformats.org/officeDocument/2006/relationships/notesSlide" Target="../notesSlides/notesSlide12.xml"/><Relationship Id="R7ba48e952be64908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6" name="Picture 15" descr="a_wide_cinematic_digital_tech_abstract_background_batch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462bdcfa24c19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18BAD-2B71-4C88-84BC-5F6EBBE1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AFF"/>
                </a:solidFill>
                <a:latin typeface="Arial"/>
                <a:ea typeface="Arial"/>
                <a:cs typeface="Arial"/>
              </a:rPr>
              <a:t>4-Bit Binary</a:t>
            </a:r>
          </a:p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AFF"/>
                </a:solidFill>
                <a:latin typeface="Arial"/>
                <a:ea typeface="Arial"/>
                <a:cs typeface="Arial"/>
              </a:rPr>
              <a:t>Arithmetic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011DF-6DA7-442A-86D6-81909284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F"/>
                </a:solidFill>
                <a:latin typeface="Arial"/>
                <a:ea typeface="Arial"/>
                <a:cs typeface="Arial"/>
              </a:rPr>
              <a:t>Design and Simulation in Logisim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B50AE-D598-48B2-98DC-FD1EEE63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7cf807c674c72"/>
          <a:stretch xmlns:a="http://schemas.openxmlformats.org/drawingml/2006/main"/>
        </p:blipFill>
        <p:spPr>
          <a:xfrm xmlns:a="http://schemas.openxmlformats.org/drawingml/2006/main">
            <a:off x="5439796" y="5048250"/>
            <a:ext cx="2550659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68EA0-6C8A-41B8-9C91-ED24441A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AFF"/>
                </a:solidFill>
                <a:latin typeface="Arial"/>
                <a:ea typeface="Arial"/>
                <a:cs typeface="Arial"/>
              </a:rPr>
              <a:t>KL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17D6B-312E-44F4-AA7E-CD88203E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AFF"/>
                </a:solidFill>
                <a:latin typeface="Arial"/>
                <a:ea typeface="Arial"/>
                <a:cs typeface="Arial"/>
              </a:rPr>
              <a:t>Academic Year 2026–2027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00010-A608-4A00-A64D-5B6EAC8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95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AFF"/>
                </a:solidFill>
                <a:latin typeface="Arial"/>
                <a:ea typeface="Arial"/>
                <a:cs typeface="Arial"/>
              </a:rPr>
              <a:t>Presented by Batch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20CE5-C27A-4BE6-A5E5-B511E4A4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F"/>
                </a:solidFill>
                <a:latin typeface="Arial"/>
                <a:ea typeface="Arial"/>
                <a:cs typeface="Arial"/>
              </a:rPr>
              <a:t>2620030005   Divya Teja</a:t>
            </a:r>
          </a:p>
          <a:p xmlns:a="http://schemas.openxmlformats.org/drawingml/2006/main">
            <a:pPr>
              <a:defRPr sz="225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F"/>
                </a:solidFill>
                <a:latin typeface="Arial"/>
                <a:ea typeface="Arial"/>
                <a:cs typeface="Arial"/>
              </a:rPr>
              <a:t>2620030016   Amogh Andra</a:t>
            </a:r>
          </a:p>
          <a:p xmlns:a="http://schemas.openxmlformats.org/drawingml/2006/main">
            <a:pPr>
              <a:defRPr sz="225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F"/>
                </a:solidFill>
                <a:latin typeface="Arial"/>
                <a:ea typeface="Arial"/>
                <a:cs typeface="Arial"/>
              </a:rPr>
              <a:t>2620030018   Keerthi Sagar</a:t>
            </a:r>
          </a:p>
          <a:p xmlns:a="http://schemas.openxmlformats.org/drawingml/2006/main">
            <a:pPr>
              <a:defRPr sz="225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F"/>
                </a:solidFill>
                <a:latin typeface="Arial"/>
                <a:ea typeface="Arial"/>
                <a:cs typeface="Arial"/>
              </a:rPr>
              <a:t>2620030134   Siri Samanvitha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948BF-EDE5-4DB7-AB9C-78E145AC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389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F"/>
                </a:solidFill>
                <a:latin typeface="Arial"/>
                <a:ea typeface="Arial"/>
                <a:cs typeface="Arial"/>
              </a:rPr>
              <a:t>Guide: Kartheek V</a:t>
            </a:r>
          </a:p>
        </p:txBody>
      </p:sp>
    </p:spTree>
    <p:extLst>
      <p:ext uri="{BB962C8B-B14F-4D97-AF65-F5344CB8AC3E}">
        <p14:creationId xmlns:p14="http://schemas.microsoft.com/office/powerpoint/2010/main" val="79397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minimalist_tech_themed_background_ima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20A2C-3C26-4B2A-B2C2-6804A085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CDC3D-3AA2-49A6-9096-167C5EE5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Project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33C92-C04B-4501-93F0-0F994601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Digital systems represent numbers using binary digits. Arithmetic circuits combine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these bits to perform calculations that form part of a processor’s Arithmetic Logic Unit.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7F362-990B-4FAF-A40C-D78B115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Domain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E5E9C-CB98-4ACD-9D74-9D7A3B75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This project belongs to digital logic and computer architecture. It demonstrates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combinational arithmetic using 4-bit operands, XOR logic, and a shared adder.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5446F-0D5F-4D42-828B-E1BD59F7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Importance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C03A6-33E8-4FE3-8050-4BE7D8C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The circuit makes two’s complement, carry propagation, and fixed-width results visible.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Interactive simulation connects arithmetic equations with the signals in a working design.</a:t>
            </a:r>
          </a:p>
        </p:txBody>
      </p:sp>
    </p:spTree>
    <p:extLst>
      <p:ext uri="{BB962C8B-B14F-4D97-AF65-F5344CB8AC3E}">
        <p14:creationId xmlns:p14="http://schemas.microsoft.com/office/powerpoint/2010/main" val="363816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minimalist_tech_themed_background_ima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DEC12-B463-40B1-9E17-4D022D08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74256-AAE5-4B4E-97EB-9BF9EA6C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5FFDB-EA97-4945-B867-3ACC2DB0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Binary arithmetic is difficult to understand from equations alone. Learners need to see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how input bits, operation selection, and carries together determine the final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8F971-FFC2-4423-AF96-4A923880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Limitations of basic approaches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60CC8-415B-4ADA-BB82-10DB0FB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Manual calculations do not display signal flow. Separate addition and subtraction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blocks also make the shared principle behind the two operations less obvious.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5D2E9-30C3-4B9E-9DB4-9441F44F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Need and project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4823D-2F8E-47AF-9C42-B53E11CC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Build a small, interactive circuit that performs A + B and A − B using one adder.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Inputs are unsigned values 0–15. The design reports carry/borrow but not signed overflow.</a:t>
            </a:r>
          </a:p>
        </p:txBody>
      </p:sp>
    </p:spTree>
    <p:extLst>
      <p:ext uri="{BB962C8B-B14F-4D97-AF65-F5344CB8AC3E}">
        <p14:creationId xmlns:p14="http://schemas.microsoft.com/office/powerpoint/2010/main" val="1287550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minimalist_tech_themed_background_ima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3CB1B-70BB-4162-BC30-A513EE2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9117E-20E7-4D3B-B3D6-A136EAEB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D41"/>
                </a:solidFill>
                <a:latin typeface="Arial"/>
                <a:ea typeface="Arial"/>
                <a:cs typeface="Arial"/>
              </a:rPr>
              <a:t>01   Build the arithmetic circuit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5310-EB52-4B96-AD68-04FFB62E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Connect a 4-bit adder, XOR logic, and a mode input to process two binary operands.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Use a common arithmetic path so both operations share the same adder.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F3C3-3871-4545-BCB6-A03FE015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D41"/>
                </a:solidFill>
                <a:latin typeface="Arial"/>
                <a:ea typeface="Arial"/>
                <a:cs typeface="Arial"/>
              </a:rPr>
              <a:t>02   Explain how subtraction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084D1-1E37-483A-8DC0-1514252A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Invert the bits of B and add 1 to form its two’s complement. Explain how the SUB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signal controls both the XOR gates and the initial carry-in of the adder.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B2EA7-C69F-4F8D-A86A-C33235EE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D41"/>
                </a:solidFill>
                <a:latin typeface="Arial"/>
                <a:ea typeface="Arial"/>
                <a:cs typeface="Arial"/>
              </a:rPr>
              <a:t>03   Verify the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E4568-7193-4057-A682-3D10C0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Check ordinary calculations, zero values, equal operands, carry, and borrow cases.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Compare RESULT and the status flag against the expected answer for each input.</a:t>
            </a:r>
          </a:p>
        </p:txBody>
      </p:sp>
    </p:spTree>
    <p:extLst>
      <p:ext uri="{BB962C8B-B14F-4D97-AF65-F5344CB8AC3E}">
        <p14:creationId xmlns:p14="http://schemas.microsoft.com/office/powerpoint/2010/main" val="523235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technological_background_illustration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43074-31F4-459F-A215-750F91EB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Literature Survey / Existing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2AAC7-BF7F-49CE-9064-85F8964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Full-adder arithmetic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94EBB-D5A2-412D-A7CC-A85DF1C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A full adder combines two operand bits and a carry-in, producing a sum and carry-out.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Multiple stages support wider values, but a plain adder only exposes addition directly.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BAECD-0811-4BEC-B73E-7767DF7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Separate subtraction components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E1CD0-1EB8-4D69-B696-846DB4D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Logisim provides a subtractor that uses inversion and addition internally. Using separate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add and subtract blocks is straightforward, but requires selection between arithmetic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AD6D4-39B5-4773-8A54-A0D7DE7E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Approach selected for this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27C18-4401-4E6B-AA92-A65A1FB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Expose conditional inversion of B and use SUB as carry-in to share one arithmetic path.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The focus is a clear teaching design, without claiming measured speed or power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962867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technological_background_illustration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6E539-0F07-4FEB-A1AF-D08B8F22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4DC3C-81BA-4625-B12B-D4A184B1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A shared 4-bit arithmetic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F6122-DB81-4C33-89F8-B3D9E57C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Use one 4-bit adder for both operations. SUB = 0 leaves B unchanged and adds A + B.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SUB = 1 inverts B and adds 1, implementing subtraction through two’s complement.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1E2BD-2A38-4445-9847-1040FD5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5DC66-FCD6-4237-942B-F8142AF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Provide two 4-bit inputs, one operation selector, a 4-bit result, and a carry/borrow flag.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Inputs start at zero and can be changed interactively using Logisim’s Poke tool.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04F65-E647-4AE5-B756-966FFCCC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Improvement over separate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DE41F-C131-456E-841B-B773CF22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The same adder serves both modes, so the effect of operation selection is easy to trace.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Simulation supports repeatable checks of normal calculations and unsigned boundary cases.</a:t>
            </a:r>
          </a:p>
        </p:txBody>
      </p:sp>
    </p:spTree>
    <p:extLst>
      <p:ext uri="{BB962C8B-B14F-4D97-AF65-F5344CB8AC3E}">
        <p14:creationId xmlns:p14="http://schemas.microsoft.com/office/powerpoint/2010/main" val="508925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2" name="Picture 21" descr="wide_clean_technological_background_illustration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9DFC3-F1B3-4F96-BBBE-A10A8BA9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System Architecture / Block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6603D-F17B-4F52-93DE-FC64F5A0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A[3:0]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8A764-A66D-4378-A8A0-D363020B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4667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C2BF9-1DFE-47E5-919E-F12F7A55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4-bit adder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A + B′ + SUB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AB169-5785-4423-A04F-CFEBAAAC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48000"/>
            <a:ext cx="1000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8C402-3B14-4C00-8780-E0D9D9AD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9875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RESULT[3:0]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B3ACA-8A39-4854-9627-1F24FC9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B[3:0]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05B72-F62D-4520-92F1-A6F38397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952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10C2A-6B4B-4895-8210-A26406C9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4-bit XOR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B′ = B XOR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03101-230E-402C-8ECC-B3B87BC0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143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0C8DC-1CA4-40DC-8E0E-8176F33A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SUB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3BE27-781D-449C-846B-06E64D6F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952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8F104-F940-4709-9F93-1755721D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86375"/>
            <a:ext cx="2571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Sign extender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0000 or 1111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36D08-0027-4B2E-BAA8-3B91844D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190500" cy="762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4AFB2-A9E5-4D70-A8E2-6FB65E2F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354"/>
          </a:solidFill>
          <a:ln xmlns:a="http://schemas.openxmlformats.org/drawingml/2006/main" w="19050">
            <a:solidFill>
              <a:srgbClr val="ACE6FE"/>
            </a:solidFill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Carry / borrow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8FCFF"/>
                </a:solidFill>
                <a:latin typeface="Arial"/>
                <a:ea typeface="Arial"/>
                <a:cs typeface="Arial"/>
              </a:rPr>
              <a:t>Cout XOR SUB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9F998-13FA-43DC-81DE-F5E57EE5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885A2-43F5-4B27-8E01-8FDBDA0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815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Cout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7AC02-5C98-4C97-9603-5CD37328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67375"/>
            <a:ext cx="1428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E6F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77FB4-BC10-407C-9136-34BC1B25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19875"/>
            <a:ext cx="1162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SUB also drives adder carry-in and status XOR.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678B7-9A3F-46AF-A707-F68996C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866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4-bit data buses connect the operand modules. SUB is a 1-bit control signal.</a:t>
            </a:r>
          </a:p>
        </p:txBody>
      </p:sp>
    </p:spTree>
    <p:extLst>
      <p:ext uri="{BB962C8B-B14F-4D97-AF65-F5344CB8AC3E}">
        <p14:creationId xmlns:p14="http://schemas.microsoft.com/office/powerpoint/2010/main" val="483962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minimalist_tech_themed_background_ima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A8F66-5D7A-47FC-8689-95BA95A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Methodology /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ACF77-3672-48B9-AEF7-0DB75735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D41"/>
                </a:solidFill>
                <a:latin typeface="Arial"/>
                <a:ea typeface="Arial"/>
                <a:cs typeface="Arial"/>
              </a:rPr>
              <a:t>1   Configure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41799-B98A-4896-AC4E-CEC358CF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Set A, B, the operand XOR, and the adder to 4 bits. Use a 1-to-4 sign extender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for SUB, and disable three-state input pins so every input begins as a defined zero.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01847-25C4-41BA-A483-50A57753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D41"/>
                </a:solidFill>
                <a:latin typeface="Arial"/>
                <a:ea typeface="Arial"/>
                <a:cs typeface="Arial"/>
              </a:rPr>
              <a:t>2   Connect the arithmetic and status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51BEE-6B70-46E7-AC9A-723ABBD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Wire A directly to the adder. Feed B through XOR with the extended SUB mask.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Connect SUB to carry-in, then XOR the final carry-out with SUB to obtain the status flag.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3A120-3CE5-4F8D-9EAC-30144ED9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D41"/>
                </a:solidFill>
                <a:latin typeface="Arial"/>
                <a:ea typeface="Arial"/>
                <a:cs typeface="Arial"/>
              </a:rPr>
              <a:t>3   Simulate and verify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4C735-D027-4C9D-A333-5A2F165A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Toggle inputs with the Poke tool and compare outputs with binary calculations.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Test zero, equal operands, ordinary values, carry, and borrow across both operation modes.</a:t>
            </a:r>
          </a:p>
        </p:txBody>
      </p:sp>
    </p:spTree>
    <p:extLst>
      <p:ext uri="{BB962C8B-B14F-4D97-AF65-F5344CB8AC3E}">
        <p14:creationId xmlns:p14="http://schemas.microsoft.com/office/powerpoint/2010/main" val="1414923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minimalist_tech_themed_background_ima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5F425-BFB7-4F2D-92BA-71817C86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Implementation: Working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B2960-F746-4F7E-ABAF-77E068A8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One rule for both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070C7-BA17-4CE3-9612-9B1BE41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RESULT = lower 4 bits of A + (B XOR {SUB, SUB, SUB, SUB}) + SUB.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At each stage, the sum is Aᵢ XOR B′ᵢ XOR Cᵢ. The next stage receives the carry.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A91CA-E41D-4A4E-9FE6-D8D43093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Addition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F073A-91D0-4753-817E-AB66A0AA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SUB = 0 produces a 0000 mask, so XOR leaves B unchanged and C₀ = 0.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The four stages add the operands. A final carry of 1 means the unsigned sum exceeds 15.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F7C79-7BA9-4747-996C-BA31BA3A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Subtraction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2B912-D371-4DC1-A5AF-95BC1040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SUB = 1 produces a 1111 mask, inverts B, and sets C₀ = 1. This forms A + NOT B + 1.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A final carry of 0 indicates a borrow, so the status XOR outputs 1 when A &lt; B.</a:t>
            </a:r>
          </a:p>
        </p:txBody>
      </p:sp>
    </p:spTree>
    <p:extLst>
      <p:ext uri="{BB962C8B-B14F-4D97-AF65-F5344CB8AC3E}">
        <p14:creationId xmlns:p14="http://schemas.microsoft.com/office/powerpoint/2010/main" val="1669989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8" name="Picture 7" descr="wide_clean_abstract_tech_electronics_background_batch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27465-C69D-4AB8-8837-C2C0FF55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Results: Circuit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E4563-5BC6-4551-A2A8-74A7B9D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47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Logisim circuit: 0101 + 0011 = 1000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63ffd50374313"/>
          <a:stretch xmlns:a="http://schemas.openxmlformats.org/drawingml/2006/main"/>
        </p:blipFill>
        <p:spPr>
          <a:xfrm xmlns:a="http://schemas.openxmlformats.org/drawingml/2006/main">
            <a:off x="1684940" y="2428875"/>
            <a:ext cx="10346121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07B4B-7B6F-4468-A766-D6FAF87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9925"/>
            <a:ext cx="1162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Observed: RESULT = 1000 and carry = 0, matching the expected sum of 5 + 3.</a:t>
            </a:r>
          </a:p>
        </p:txBody>
      </p:sp>
    </p:spTree>
    <p:extLst>
      <p:ext uri="{BB962C8B-B14F-4D97-AF65-F5344CB8AC3E}">
        <p14:creationId xmlns:p14="http://schemas.microsoft.com/office/powerpoint/2010/main" val="419792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17" name="Picture 16" descr="wide_clean_minimalist_tech_themed_background_ima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E95E2-5E28-4EE5-83DE-C54493D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Results: Truth Tables &amp;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F4ACA-D845-4A68-9EC1-E2BF7EA6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57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Full-adder truth table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95375" y="2409825"/>
          <a:ext xmlns:a="http://schemas.openxmlformats.org/drawingml/2006/main" cx="5143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</a:tblGrid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Aᵢ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B′ᵢ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Cᵢ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Rᵢ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Cᵢ₊₁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B3EB8-230D-4B85-B856-EB3839CC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573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Operation control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000875" y="2409825"/>
          <a:ext xmlns:a="http://schemas.openxmlformats.org/drawingml/2006/main" cx="5619750" cy="1266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333500"/>
                <a:gridCol w="952500"/>
                <a:gridCol w="2381250"/>
              </a:tblGrid>
              <a:tr h="42227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SUB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B′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C₀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A + B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NOT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A −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A6965-E41D-487E-A3E8-6D3E8780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433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D41"/>
                </a:solidFill>
                <a:latin typeface="Arial"/>
                <a:ea typeface="Arial"/>
                <a:cs typeface="Arial"/>
              </a:rPr>
              <a:t>4-bit examples (selected cases)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000875" y="4410075"/>
          <a:ext xmlns:a="http://schemas.openxmlformats.org/drawingml/2006/main" cx="561975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1095375"/>
                <a:gridCol w="1095375"/>
                <a:gridCol w="1619250"/>
                <a:gridCol w="104775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SUB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CFF"/>
                          </a:solidFill>
                          <a:latin typeface="Arial"/>
                          <a:ea typeface="Arial"/>
                          <a:cs typeface="Arial"/>
                        </a:rPr>
                        <a:t>Flag</a:t>
                      </a:r>
                    </a:p>
                  </a:txBody>
                  <a:tcPr marL="91440" marR="91440" marT="45720" marB="45720" anchor="ctr">
                    <a:solidFill>
                      <a:srgbClr val="05335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0101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0011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1111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1001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0011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0110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0011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0101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1110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59E47-2107-4B12-B148-371C27BA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638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B′ = B XOR SUB. Four stages process bits 0 to 3, with C₀ = SUB.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9A5EA-1CF4-4A5B-8884-6BD46324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866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Flag = carry for addition, borrow for subtraction. RESULT contains the lower 4 bits.</a:t>
            </a:r>
          </a:p>
        </p:txBody>
      </p:sp>
    </p:spTree>
    <p:extLst>
      <p:ext uri="{BB962C8B-B14F-4D97-AF65-F5344CB8AC3E}">
        <p14:creationId xmlns:p14="http://schemas.microsoft.com/office/powerpoint/2010/main" val="350185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4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" name="Picture 8" descr="wide_clean_minimalist_tech_themed_background_ima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A3EBD-F660-4F1D-8E46-6641DCBA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2444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7BAEF-B146-434A-8A36-A8722FBD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Project achievements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AC33A-2AB4-44C7-96D7-CDEED745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The completed Logisim circuit performs 4-bit addition and subtraction through one adder.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A single SUB input controls conditional inversion, carry-in, and interpretation of the flag.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587E4-8C3E-49F4-A376-A97CF23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Objectives fulfilled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D05F9-325A-4131-B003-53808957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The design demonstrates two’s complement and displays both result and carry/borrow.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All 512 input combinations passed result and flag checks in the Logisim simulation engine.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F7B84-439A-4F6F-8566-A0B3A980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CE6F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82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F3E5A-E4D7-4BAE-A031-31607963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152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This is a simulated combinational design with 4-bit unsigned inputs and modulo-16 results.</a:t>
            </a:r>
          </a:p>
          <a:p xmlns:a="http://schemas.openxmlformats.org/drawingml/2006/main">
            <a:pPr>
              <a:defRPr sz="2250" b="0">
                <a:solidFill>
                  <a:srgbClr val="E7F4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D41"/>
                </a:solidFill>
                <a:latin typeface="Arial"/>
                <a:ea typeface="Arial"/>
                <a:cs typeface="Arial"/>
              </a:rPr>
              <a:t>Future work could add signed-overflow detection, wider operands, or physical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834237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2026-09-11T07:22:38.1500000Z</dcterms:created>
  <dcterms:modified xsi:type="dcterms:W3CDTF">2026-09-11T07:22:38.1500000Z</dcterms:modified>
</coreProperties>
</file>